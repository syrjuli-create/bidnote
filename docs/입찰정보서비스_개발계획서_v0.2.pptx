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개요" id="{3accdea9-d555-15af-6238-f3d657ca47f6}">
          <p14:sldIdLst>
            <p14:sldId id="256"/>
            <p14:sldId id="257"/>
            <p14:sldId id="258"/>
            <p14:sldId id="259"/>
          </p14:sldIdLst>
        </p14:section>
        <p14:section name="벤치마크 분석" id="{72259917-cd8a-b9cb-d364-db05f1b083fe}">
          <p14:sldIdLst>
            <p14:sldId id="260"/>
            <p14:sldId id="261"/>
            <p14:sldId id="262"/>
          </p14:sldIdLst>
        </p14:section>
        <p14:section name="서비스 범위" id="{c82262c9-ea5f-e13e-de18-f375a621fa1e}">
          <p14:sldIdLst>
            <p14:sldId id="263"/>
            <p14:sldId id="264"/>
          </p14:sldIdLst>
        </p14:section>
        <p14:section name="데이터 수집 설계" id="{adbf243f-729e-1d1a-8747-c4b2cbe5e719}">
          <p14:sldIdLst>
            <p14:sldId id="265"/>
            <p14:sldId id="266"/>
            <p14:sldId id="267"/>
            <p14:sldId id="268"/>
          </p14:sldIdLst>
        </p14:section>
        <p14:section name="시스템 설계" id="{c707f23d-416f-f369-181f-c217fd6c662b}">
          <p14:sldIdLst>
            <p14:sldId id="269"/>
            <p14:sldId id="270"/>
            <p14:sldId id="271"/>
            <p14:sldId id="272"/>
            <p14:sldId id="273"/>
          </p14:sldIdLst>
        </p14:section>
        <p14:section name="실행 계획" id="{c3befd2f-372a-bb9a-24d3-4e8b9a69bed5}">
          <p14:sldIdLst>
            <p14:sldId id="274"/>
            <p14:sldId id="275"/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입찰정보 서비스 개발 계획서 v0.2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입찰정보 서비스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개발 계획서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v0.2 · 2026-10-12 · 검토 의견 반영본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핵심 원칙</a:t>
            </a:r>
            <a:endParaRPr lang="en-US" sz="3000" dirty="0"/>
          </a:p>
        </p:txBody>
      </p:sp>
      <p:sp>
        <p:nvSpPr>
          <p:cNvPr id="3" name="principle"/>
          <p:cNvSpPr/>
          <p:nvPr/>
        </p:nvSpPr>
        <p:spPr>
          <a:xfrm>
            <a:off x="548640" y="1325880"/>
            <a:ext cx="11064240" cy="201168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325880"/>
            <a:ext cx="10332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화면보다 데이터를 먼저 안정화하고,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기능보다 수집 정확도를 먼저 확보한다</a:t>
            </a:r>
            <a:endParaRPr lang="en-US" sz="3000" dirty="0"/>
          </a:p>
        </p:txBody>
      </p:sp>
      <p:sp>
        <p:nvSpPr>
          <p:cNvPr id="5" name="principle-1"/>
          <p:cNvSpPr/>
          <p:nvPr/>
        </p:nvSpPr>
        <p:spPr>
          <a:xfrm>
            <a:off x="548640" y="3611880"/>
            <a:ext cx="3566160" cy="256032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6" name="principle-badge-1"/>
          <p:cNvSpPr/>
          <p:nvPr/>
        </p:nvSpPr>
        <p:spPr>
          <a:xfrm>
            <a:off x="822960" y="3886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3886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누락 없는 수집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6634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증분 수집과 재수집(Backfill)을 함께 돌려 빠진 공고를 다시 채운다</a:t>
            </a:r>
            <a:endParaRPr lang="en-US" sz="1500" dirty="0"/>
          </a:p>
        </p:txBody>
      </p:sp>
      <p:sp>
        <p:nvSpPr>
          <p:cNvPr id="10" name="principle-2"/>
          <p:cNvSpPr/>
          <p:nvPr/>
        </p:nvSpPr>
        <p:spPr>
          <a:xfrm>
            <a:off x="4297680" y="3611880"/>
            <a:ext cx="3566160" cy="256032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11" name="principle-badge-2"/>
          <p:cNvSpPr/>
          <p:nvPr/>
        </p:nvSpPr>
        <p:spPr>
          <a:xfrm>
            <a:off x="4572000" y="3886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0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0" y="3886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변경 추적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46634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정정·재공고를 덮어쓰지 않고 이력으로 남긴다</a:t>
            </a:r>
            <a:endParaRPr lang="en-US" sz="1500" dirty="0"/>
          </a:p>
        </p:txBody>
      </p:sp>
      <p:sp>
        <p:nvSpPr>
          <p:cNvPr id="15" name="principle-3"/>
          <p:cNvSpPr/>
          <p:nvPr/>
        </p:nvSpPr>
        <p:spPr>
          <a:xfrm>
            <a:off x="8046720" y="3611880"/>
            <a:ext cx="3566160" cy="256032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16" name="principle-badge-3"/>
          <p:cNvSpPr/>
          <p:nvPr/>
        </p:nvSpPr>
        <p:spPr>
          <a:xfrm>
            <a:off x="8321040" y="3886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21040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052560" y="3886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원문 보관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46634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API 응답 원문을 저장해 파싱 오류와 필드 변경에 대비한다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v0.1 대비 바뀐 점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206240"/>
                <a:gridCol w="502920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구분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v0.1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v0.2 (검토 반영)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MVP 범위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공사·용역·물품 전체, 회원 구독·개찰 결과·폴더·휴지통 포함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공사 분야만. 수집 → 검색·상세 → 관심 공고 → 계산기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수집 방식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30분 주기 증분 수집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5~10분 증분 + 1시간 재수집 + 매일 재검증 + 주간 정합성 검사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데이터 모델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Notice 단일 테이블, CollectLog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Notice · NoticeHistory · ApiRawResponse 분리, SourceSystem 추가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데이터 출처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나라장터만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IBidCollector 인터페이스로 설계, D2B·한전·LH 확장 대비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프로젝트 구조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웹 서버 안에 수집 작업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Web / Application / Domain / Infrastructure / Collector.Worker 분리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검색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PostgreSQL 전문 검색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pg_trgm + GIN 인덱스로 시작, 필요 시 OpenSearch 분리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결제 모델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Payment · TaxInvoice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Subscription 상세 필드, PG Webhook 원문·처리 이력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개인정보 표현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'개인정보 국내 보관 요건 대응'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'운영·보안·컴플라이언스 관리 용이성'으로 수정, 별도 법률 검토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한 장 요약</a:t>
            </a:r>
            <a:endParaRPr lang="en-US" sz="3000" dirty="0"/>
          </a:p>
        </p:txBody>
      </p:sp>
      <p:sp>
        <p:nvSpPr>
          <p:cNvPr id="3" name="summary-1"/>
          <p:cNvSpPr/>
          <p:nvPr/>
        </p:nvSpPr>
        <p:spPr>
          <a:xfrm>
            <a:off x="548640" y="1463040"/>
            <a:ext cx="2633472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2176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공사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65176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MVP 대상 분야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063240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공사 완성 후 용역·물품 확장</a:t>
            </a:r>
            <a:endParaRPr lang="en-US" sz="1300" dirty="0"/>
          </a:p>
        </p:txBody>
      </p:sp>
      <p:sp>
        <p:nvSpPr>
          <p:cNvPr id="7" name="summary-2"/>
          <p:cNvSpPr/>
          <p:nvPr/>
        </p:nvSpPr>
        <p:spPr>
          <a:xfrm>
            <a:off x="3364992" y="1463040"/>
            <a:ext cx="2633472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93592" y="1691640"/>
            <a:ext cx="2176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무료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593592" y="265176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공고 데이터 출처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593592" y="3063240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조달청 나라장터 공공데이터 API</a:t>
            </a:r>
            <a:endParaRPr lang="en-US" sz="1300" dirty="0"/>
          </a:p>
        </p:txBody>
      </p:sp>
      <p:sp>
        <p:nvSpPr>
          <p:cNvPr id="11" name="summary-3"/>
          <p:cNvSpPr/>
          <p:nvPr/>
        </p:nvSpPr>
        <p:spPr>
          <a:xfrm>
            <a:off x="6181344" y="1463040"/>
            <a:ext cx="2633472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9944" y="1691640"/>
            <a:ext cx="2176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9주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6409944" y="265176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MVP 완성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9944" y="3063240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수집·검색·관심 공고·계산기</a:t>
            </a:r>
            <a:endParaRPr lang="en-US" sz="1300" dirty="0"/>
          </a:p>
        </p:txBody>
      </p:sp>
      <p:sp>
        <p:nvSpPr>
          <p:cNvPr id="15" name="summary-4"/>
          <p:cNvSpPr/>
          <p:nvPr/>
        </p:nvSpPr>
        <p:spPr>
          <a:xfrm>
            <a:off x="8997696" y="1463040"/>
            <a:ext cx="2633472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226296" y="1691640"/>
            <a:ext cx="2176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14주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9226296" y="265176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유료 서비스 오픈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226296" y="3063240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구독·결제·알림 추가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20624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목표 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금강입찰과 비슷한 입찰정보 서비스를 공식 공공데이터로 새로 만든다. 벤치마크의 콘텐츠·디자인은 복사하지 않는다.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스택 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ASP.NET Core (.NET 10), PostgreSQL, Hangfire 수집 워커 (프론트엔드 방식은 결정 사항 참고)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벤치마크 메뉴 구성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931920"/>
                <a:gridCol w="822960"/>
                <a:gridCol w="42062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대메뉴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하위 메뉴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접근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추정 기능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시설·용역·물품 공고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진행공고, 개찰공고 (각 분류별)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회원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공고 목록·상세 팝업, 체크 후 서류함 이동·출력, 개찰 순위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내서류함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내서류함, 투찰결과, 경쟁사투찰성향, 삭제공고, 입찰한도조회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회원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관심 공고 분류 보관, 투찰 결과·경쟁사 분석, 참여 한도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커뮤니티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공지사항, 발주처소식, 발주처별 적격심사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회원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운영 공지, 기관 제도 변경, 심사 기준 자료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커뮤니티 (공개)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투찰금액 산출방식, 투찰율/실적배수, 업종별 평균비율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공개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투찰 공식·예시, 발주처별 투찰률표, 업종 평균 경영비율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고객센터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이용문의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회원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1:1 문의 게시판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기타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이용약관, 개인정보취급방침, 원격지원(exe)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공개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요금·환불 규정, 원격 상담 프로그램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회원 전용 페이지는 직접 보지 못했습니다. 메뉴명, 페이지 스크립트, 약관 제17조를 근거로 추정했습니다.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확인된 기능과 핵심 공식</a:t>
            </a:r>
            <a:endParaRPr lang="en-US" sz="3000" dirty="0"/>
          </a:p>
        </p:txBody>
      </p:sp>
      <p:sp>
        <p:nvSpPr>
          <p:cNvPr id="3" name="script-features"/>
          <p:cNvSpPr/>
          <p:nvPr/>
        </p:nvSpPr>
        <p:spPr>
          <a:xfrm>
            <a:off x="548640" y="1325880"/>
            <a:ext cx="5120640" cy="4846320"/>
          </a:xfrm>
          <a:prstGeom prst="roundRect">
            <a:avLst>
              <a:gd name="adj" fmla="val 1509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페이지 스크립트에서 확인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57400"/>
            <a:ext cx="45720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공고 다중 선택 → 서류함 일괄 이동·출력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공고 상세 새 창 팝업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투찰금액 ↔ 사정률 양방향 계산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서류함 분류(폴더) 이동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원격지원 프로그램 내려받기</a:t>
            </a:r>
            <a:endParaRPr lang="en-US" sz="1500" dirty="0"/>
          </a:p>
        </p:txBody>
      </p:sp>
      <p:sp>
        <p:nvSpPr>
          <p:cNvPr id="6" name="formula-box"/>
          <p:cNvSpPr/>
          <p:nvPr/>
        </p:nvSpPr>
        <p:spPr>
          <a:xfrm>
            <a:off x="5943600" y="1325880"/>
            <a:ext cx="5669280" cy="4846320"/>
          </a:xfrm>
          <a:prstGeom prst="roundRect">
            <a:avLst>
              <a:gd name="adj" fmla="val 1509"/>
            </a:avLst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217920" y="1554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투찰금액 산출 공식 (공개 자료)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21031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기본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23957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기초금액 × 사정률 × 낙찰하한율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30632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A값 적용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335584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{(기초금액 × 사정률) − A} × 낙찰하한율 + A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40233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순공사원가 하한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431596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순공사원가 × 사정률 × 0.98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50749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A값 적용 금액과 순공사원가 하한 중 높은 금액으로 투찰. 하한보다 낮으면 적격심사에서 제외.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벤치마크 수익 구조와 개선 기회</a:t>
            </a:r>
            <a:endParaRPr lang="en-US" sz="3000" dirty="0"/>
          </a:p>
        </p:txBody>
      </p:sp>
      <p:sp>
        <p:nvSpPr>
          <p:cNvPr id="3" name="bm-1"/>
          <p:cNvSpPr/>
          <p:nvPr/>
        </p:nvSpPr>
        <p:spPr>
          <a:xfrm>
            <a:off x="548640" y="1325880"/>
            <a:ext cx="26334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50876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월 구독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20240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27,500원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06040"/>
            <a:ext cx="2176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공고·낙찰 정보 열람, 분석 프로그램</a:t>
            </a:r>
            <a:endParaRPr lang="en-US" sz="1300" dirty="0"/>
          </a:p>
        </p:txBody>
      </p:sp>
      <p:sp>
        <p:nvSpPr>
          <p:cNvPr id="7" name="bm-2"/>
          <p:cNvSpPr/>
          <p:nvPr/>
        </p:nvSpPr>
        <p:spPr>
          <a:xfrm>
            <a:off x="3364992" y="1325880"/>
            <a:ext cx="26334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93592" y="150876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분석서비스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593592" y="1920240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낙찰 수수료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593592" y="2606040"/>
            <a:ext cx="2176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분석가가 투찰가 제시, 별도 계약</a:t>
            </a:r>
            <a:endParaRPr lang="en-US" sz="1300" dirty="0"/>
          </a:p>
        </p:txBody>
      </p:sp>
      <p:sp>
        <p:nvSpPr>
          <p:cNvPr id="11" name="bm-3"/>
          <p:cNvSpPr/>
          <p:nvPr/>
        </p:nvSpPr>
        <p:spPr>
          <a:xfrm>
            <a:off x="6181344" y="1325880"/>
            <a:ext cx="26334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9944" y="150876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입찰내역서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09944" y="1920240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건별 유료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409944" y="2606040"/>
            <a:ext cx="2176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마감 전날까지 신청, 이메일 발송</a:t>
            </a:r>
            <a:endParaRPr lang="en-US" sz="1300" dirty="0"/>
          </a:p>
        </p:txBody>
      </p:sp>
      <p:sp>
        <p:nvSpPr>
          <p:cNvPr id="15" name="bm-4"/>
          <p:cNvSpPr/>
          <p:nvPr/>
        </p:nvSpPr>
        <p:spPr>
          <a:xfrm>
            <a:off x="8997696" y="1325880"/>
            <a:ext cx="26334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226296" y="150876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부가 운영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226296" y="1920240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-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9226296" y="2606040"/>
            <a:ext cx="2176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웹 세금계산서, 원격지원, 월 300MB 제한</a:t>
            </a:r>
            <a:endParaRPr lang="en-US" sz="1300" dirty="0"/>
          </a:p>
        </p:txBody>
      </p:sp>
      <p:sp>
        <p:nvSpPr>
          <p:cNvPr id="19" name="improve"/>
          <p:cNvSpPr/>
          <p:nvPr/>
        </p:nvSpPr>
        <p:spPr>
          <a:xfrm>
            <a:off x="548640" y="3794760"/>
            <a:ext cx="11064240" cy="237744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3977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개선 기회 → 신규 서비스의 차별점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443484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구형 구조(EUC-KR, jQuery)·모바일 미대응 → PC·모바일 반응형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맞춤 공고 알림 없음 → 조건별 이메일·푸시 알림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주민등록번호 수집, 무통장입금 중심 → 최소 개인정보, 카드 정기결제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권장: 월 구독 + 무료 계산 도구로 시작, 분석서비스는 운영 인력 확보 후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신규 메뉴 구조 (최종 목표)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공고 종류별 대메뉴 3개를 '공고 찾기' 하나로 합치고, 비회원도 쓰는 '입찰 도구'를 새로 둔다. 진한 칸은 MVP에 들어가는 기능.</a:t>
            </a:r>
            <a:endParaRPr lang="en-US" sz="1400" dirty="0"/>
          </a:p>
        </p:txBody>
      </p:sp>
      <p:sp>
        <p:nvSpPr>
          <p:cNvPr id="4" name="tree-head-1"/>
          <p:cNvSpPr/>
          <p:nvPr/>
        </p:nvSpPr>
        <p:spPr>
          <a:xfrm>
            <a:off x="548640" y="1691640"/>
            <a:ext cx="173736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공고 찾기</a:t>
            </a:r>
            <a:endParaRPr lang="en-US" sz="1600" dirty="0"/>
          </a:p>
        </p:txBody>
      </p:sp>
      <p:sp>
        <p:nvSpPr>
          <p:cNvPr id="6" name="tree-item-1-1"/>
          <p:cNvSpPr/>
          <p:nvPr/>
        </p:nvSpPr>
        <p:spPr>
          <a:xfrm>
            <a:off x="548640" y="2560320"/>
            <a:ext cx="1737360" cy="603504"/>
          </a:xfrm>
          <a:prstGeom prst="roundRect">
            <a:avLst>
              <a:gd name="adj" fmla="val 12121"/>
            </a:avLst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560320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진행 중인 공고</a:t>
            </a:r>
            <a:endParaRPr lang="en-US" sz="1200" dirty="0"/>
          </a:p>
        </p:txBody>
      </p:sp>
      <p:sp>
        <p:nvSpPr>
          <p:cNvPr id="8" name="tree-item-1-2"/>
          <p:cNvSpPr/>
          <p:nvPr/>
        </p:nvSpPr>
        <p:spPr>
          <a:xfrm>
            <a:off x="548640" y="3273552"/>
            <a:ext cx="1737360" cy="603504"/>
          </a:xfrm>
          <a:prstGeom prst="roundRect">
            <a:avLst>
              <a:gd name="adj" fmla="val 12121"/>
            </a:avLst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273552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공고 검색</a:t>
            </a:r>
            <a:endParaRPr lang="en-US" sz="1200" dirty="0"/>
          </a:p>
        </p:txBody>
      </p:sp>
      <p:sp>
        <p:nvSpPr>
          <p:cNvPr id="10" name="tree-item-1-3"/>
          <p:cNvSpPr/>
          <p:nvPr/>
        </p:nvSpPr>
        <p:spPr>
          <a:xfrm>
            <a:off x="548640" y="3986784"/>
            <a:ext cx="1737360" cy="603504"/>
          </a:xfrm>
          <a:prstGeom prst="roundRect">
            <a:avLst>
              <a:gd name="adj" fmla="val 12121"/>
            </a:avLst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986784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공고 상세</a:t>
            </a:r>
            <a:endParaRPr lang="en-US" sz="1200" dirty="0"/>
          </a:p>
        </p:txBody>
      </p:sp>
      <p:sp>
        <p:nvSpPr>
          <p:cNvPr id="12" name="tree-item-1-4"/>
          <p:cNvSpPr/>
          <p:nvPr/>
        </p:nvSpPr>
        <p:spPr>
          <a:xfrm>
            <a:off x="548640" y="4700016"/>
            <a:ext cx="173736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700016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개찰 결과</a:t>
            </a:r>
            <a:endParaRPr lang="en-US" sz="1200" dirty="0"/>
          </a:p>
        </p:txBody>
      </p:sp>
      <p:sp>
        <p:nvSpPr>
          <p:cNvPr id="14" name="tree-item-1-5"/>
          <p:cNvSpPr/>
          <p:nvPr/>
        </p:nvSpPr>
        <p:spPr>
          <a:xfrm>
            <a:off x="548640" y="5413248"/>
            <a:ext cx="173736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5413248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검색 조건 저장</a:t>
            </a:r>
            <a:endParaRPr lang="en-US" sz="1200" dirty="0"/>
          </a:p>
        </p:txBody>
      </p:sp>
      <p:sp>
        <p:nvSpPr>
          <p:cNvPr id="16" name="tree-head-2"/>
          <p:cNvSpPr/>
          <p:nvPr/>
        </p:nvSpPr>
        <p:spPr>
          <a:xfrm>
            <a:off x="2414016" y="1691640"/>
            <a:ext cx="173736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414016" y="16916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내 입찰</a:t>
            </a:r>
            <a:endParaRPr lang="en-US" sz="1600" dirty="0"/>
          </a:p>
        </p:txBody>
      </p:sp>
      <p:sp>
        <p:nvSpPr>
          <p:cNvPr id="18" name="tree-item-2-1"/>
          <p:cNvSpPr/>
          <p:nvPr/>
        </p:nvSpPr>
        <p:spPr>
          <a:xfrm>
            <a:off x="2414016" y="2560320"/>
            <a:ext cx="1737360" cy="603504"/>
          </a:xfrm>
          <a:prstGeom prst="roundRect">
            <a:avLst>
              <a:gd name="adj" fmla="val 12121"/>
            </a:avLst>
          </a:prstGeom>
          <a:solidFill>
            <a:schemeClr val="accent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505456" y="2560320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관심 공고</a:t>
            </a:r>
            <a:endParaRPr lang="en-US" sz="1200" dirty="0"/>
          </a:p>
        </p:txBody>
      </p:sp>
      <p:sp>
        <p:nvSpPr>
          <p:cNvPr id="20" name="tree-item-2-2"/>
          <p:cNvSpPr/>
          <p:nvPr/>
        </p:nvSpPr>
        <p:spPr>
          <a:xfrm>
            <a:off x="2414016" y="3273552"/>
            <a:ext cx="173736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505456" y="3273552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폴더·휴지통</a:t>
            </a:r>
            <a:endParaRPr lang="en-US" sz="1200" dirty="0"/>
          </a:p>
        </p:txBody>
      </p:sp>
      <p:sp>
        <p:nvSpPr>
          <p:cNvPr id="22" name="tree-item-2-3"/>
          <p:cNvSpPr/>
          <p:nvPr/>
        </p:nvSpPr>
        <p:spPr>
          <a:xfrm>
            <a:off x="2414016" y="3986784"/>
            <a:ext cx="173736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2505456" y="3986784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내 투찰 기록</a:t>
            </a:r>
            <a:endParaRPr lang="en-US" sz="1200" dirty="0"/>
          </a:p>
        </p:txBody>
      </p:sp>
      <p:sp>
        <p:nvSpPr>
          <p:cNvPr id="24" name="tree-item-2-4"/>
          <p:cNvSpPr/>
          <p:nvPr/>
        </p:nvSpPr>
        <p:spPr>
          <a:xfrm>
            <a:off x="2414016" y="4700016"/>
            <a:ext cx="173736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2505456" y="4700016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경쟁사 투찰 성향</a:t>
            </a:r>
            <a:endParaRPr lang="en-US" sz="1200" dirty="0"/>
          </a:p>
        </p:txBody>
      </p:sp>
      <p:sp>
        <p:nvSpPr>
          <p:cNvPr id="26" name="tree-item-2-5"/>
          <p:cNvSpPr/>
          <p:nvPr/>
        </p:nvSpPr>
        <p:spPr>
          <a:xfrm>
            <a:off x="2414016" y="5413248"/>
            <a:ext cx="173736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2505456" y="5413248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입찰 가능 금액</a:t>
            </a:r>
            <a:endParaRPr lang="en-US" sz="1200" dirty="0"/>
          </a:p>
        </p:txBody>
      </p:sp>
      <p:sp>
        <p:nvSpPr>
          <p:cNvPr id="28" name="tree-head-3"/>
          <p:cNvSpPr/>
          <p:nvPr/>
        </p:nvSpPr>
        <p:spPr>
          <a:xfrm>
            <a:off x="4279392" y="1691640"/>
            <a:ext cx="173736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279392" y="16916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입찰 도구</a:t>
            </a:r>
            <a:endParaRPr lang="en-US" sz="1600" dirty="0"/>
          </a:p>
        </p:txBody>
      </p:sp>
      <p:sp>
        <p:nvSpPr>
          <p:cNvPr id="30" name="tree-item-3-1"/>
          <p:cNvSpPr/>
          <p:nvPr/>
        </p:nvSpPr>
        <p:spPr>
          <a:xfrm>
            <a:off x="4279392" y="2560320"/>
            <a:ext cx="1737360" cy="603504"/>
          </a:xfrm>
          <a:prstGeom prst="roundRect">
            <a:avLst>
              <a:gd name="adj" fmla="val 12121"/>
            </a:avLst>
          </a:prstGeom>
          <a:solidFill>
            <a:schemeClr val="accent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370832" y="2560320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투찰금액 계산기</a:t>
            </a:r>
            <a:endParaRPr lang="en-US" sz="1200" dirty="0"/>
          </a:p>
        </p:txBody>
      </p:sp>
      <p:sp>
        <p:nvSpPr>
          <p:cNvPr id="32" name="tree-item-3-2"/>
          <p:cNvSpPr/>
          <p:nvPr/>
        </p:nvSpPr>
        <p:spPr>
          <a:xfrm>
            <a:off x="4279392" y="3273552"/>
            <a:ext cx="173736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370832" y="3273552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투찰률·실적배수 표</a:t>
            </a:r>
            <a:endParaRPr lang="en-US" sz="1200" dirty="0"/>
          </a:p>
        </p:txBody>
      </p:sp>
      <p:sp>
        <p:nvSpPr>
          <p:cNvPr id="34" name="tree-item-3-3"/>
          <p:cNvSpPr/>
          <p:nvPr/>
        </p:nvSpPr>
        <p:spPr>
          <a:xfrm>
            <a:off x="4279392" y="3986784"/>
            <a:ext cx="173736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370832" y="3986784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업종별 평균비율</a:t>
            </a:r>
            <a:endParaRPr lang="en-US" sz="1200" dirty="0"/>
          </a:p>
        </p:txBody>
      </p:sp>
      <p:sp>
        <p:nvSpPr>
          <p:cNvPr id="36" name="tree-item-3-4"/>
          <p:cNvSpPr/>
          <p:nvPr/>
        </p:nvSpPr>
        <p:spPr>
          <a:xfrm>
            <a:off x="4279392" y="4700016"/>
            <a:ext cx="173736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370832" y="4700016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적격심사 점수</a:t>
            </a:r>
            <a:endParaRPr lang="en-US" sz="1200" dirty="0"/>
          </a:p>
        </p:txBody>
      </p:sp>
      <p:sp>
        <p:nvSpPr>
          <p:cNvPr id="38" name="tree-head-4"/>
          <p:cNvSpPr/>
          <p:nvPr/>
        </p:nvSpPr>
        <p:spPr>
          <a:xfrm>
            <a:off x="6144768" y="1691640"/>
            <a:ext cx="173736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144768" y="16916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알림</a:t>
            </a:r>
            <a:endParaRPr lang="en-US" sz="1600" dirty="0"/>
          </a:p>
        </p:txBody>
      </p:sp>
      <p:sp>
        <p:nvSpPr>
          <p:cNvPr id="40" name="tree-item-4-1"/>
          <p:cNvSpPr/>
          <p:nvPr/>
        </p:nvSpPr>
        <p:spPr>
          <a:xfrm>
            <a:off x="6144768" y="2560320"/>
            <a:ext cx="173736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236208" y="2560320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새 공고 알림</a:t>
            </a:r>
            <a:endParaRPr lang="en-US" sz="1200" dirty="0"/>
          </a:p>
        </p:txBody>
      </p:sp>
      <p:sp>
        <p:nvSpPr>
          <p:cNvPr id="42" name="tree-item-4-2"/>
          <p:cNvSpPr/>
          <p:nvPr/>
        </p:nvSpPr>
        <p:spPr>
          <a:xfrm>
            <a:off x="6144768" y="3273552"/>
            <a:ext cx="173736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236208" y="3273552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마감·개찰 알림</a:t>
            </a:r>
            <a:endParaRPr lang="en-US" sz="1200" dirty="0"/>
          </a:p>
        </p:txBody>
      </p:sp>
      <p:sp>
        <p:nvSpPr>
          <p:cNvPr id="44" name="tree-head-5"/>
          <p:cNvSpPr/>
          <p:nvPr/>
        </p:nvSpPr>
        <p:spPr>
          <a:xfrm>
            <a:off x="8010144" y="1691640"/>
            <a:ext cx="173736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8010144" y="16916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자료실</a:t>
            </a:r>
            <a:endParaRPr lang="en-US" sz="1600" dirty="0"/>
          </a:p>
        </p:txBody>
      </p:sp>
      <p:sp>
        <p:nvSpPr>
          <p:cNvPr id="46" name="tree-item-5-1"/>
          <p:cNvSpPr/>
          <p:nvPr/>
        </p:nvSpPr>
        <p:spPr>
          <a:xfrm>
            <a:off x="8010144" y="2560320"/>
            <a:ext cx="173736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8101584" y="2560320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공지·발주처 소식</a:t>
            </a:r>
            <a:endParaRPr lang="en-US" sz="1200" dirty="0"/>
          </a:p>
        </p:txBody>
      </p:sp>
      <p:sp>
        <p:nvSpPr>
          <p:cNvPr id="48" name="tree-item-5-2"/>
          <p:cNvSpPr/>
          <p:nvPr/>
        </p:nvSpPr>
        <p:spPr>
          <a:xfrm>
            <a:off x="8010144" y="3273552"/>
            <a:ext cx="173736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8101584" y="3273552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적격심사 기준</a:t>
            </a:r>
            <a:endParaRPr lang="en-US" sz="1200" dirty="0"/>
          </a:p>
        </p:txBody>
      </p:sp>
      <p:sp>
        <p:nvSpPr>
          <p:cNvPr id="50" name="tree-item-5-3"/>
          <p:cNvSpPr/>
          <p:nvPr/>
        </p:nvSpPr>
        <p:spPr>
          <a:xfrm>
            <a:off x="8010144" y="3986784"/>
            <a:ext cx="173736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8101584" y="3986784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출력·엑셀 저장</a:t>
            </a:r>
            <a:endParaRPr lang="en-US" sz="1200" dirty="0"/>
          </a:p>
        </p:txBody>
      </p:sp>
      <p:sp>
        <p:nvSpPr>
          <p:cNvPr id="52" name="tree-head-6"/>
          <p:cNvSpPr/>
          <p:nvPr/>
        </p:nvSpPr>
        <p:spPr>
          <a:xfrm>
            <a:off x="9875520" y="1691640"/>
            <a:ext cx="173736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9875520" y="16916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고객센터</a:t>
            </a:r>
            <a:endParaRPr lang="en-US" sz="1600" dirty="0"/>
          </a:p>
        </p:txBody>
      </p:sp>
      <p:sp>
        <p:nvSpPr>
          <p:cNvPr id="54" name="tree-item-6-1"/>
          <p:cNvSpPr/>
          <p:nvPr/>
        </p:nvSpPr>
        <p:spPr>
          <a:xfrm>
            <a:off x="9875520" y="2560320"/>
            <a:ext cx="173736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9966960" y="2560320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1:1 문의</a:t>
            </a:r>
            <a:endParaRPr lang="en-US" sz="1200" dirty="0"/>
          </a:p>
        </p:txBody>
      </p:sp>
      <p:sp>
        <p:nvSpPr>
          <p:cNvPr id="56" name="tree-item-6-2"/>
          <p:cNvSpPr/>
          <p:nvPr/>
        </p:nvSpPr>
        <p:spPr>
          <a:xfrm>
            <a:off x="9875520" y="3273552"/>
            <a:ext cx="173736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9966960" y="3273552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요금·결제</a:t>
            </a:r>
            <a:endParaRPr lang="en-US" sz="1200" dirty="0"/>
          </a:p>
        </p:txBody>
      </p:sp>
      <p:sp>
        <p:nvSpPr>
          <p:cNvPr id="58" name="tree-item-6-3"/>
          <p:cNvSpPr/>
          <p:nvPr/>
        </p:nvSpPr>
        <p:spPr>
          <a:xfrm>
            <a:off x="9875520" y="3986784"/>
            <a:ext cx="173736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9966960" y="3986784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원격지원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MVP 범위: 공사 분야, 네 가지 기능만</a:t>
            </a:r>
            <a:endParaRPr lang="en-US" sz="3000" dirty="0"/>
          </a:p>
        </p:txBody>
      </p:sp>
      <p:sp>
        <p:nvSpPr>
          <p:cNvPr id="3" name="mvp-1"/>
          <p:cNvSpPr/>
          <p:nvPr/>
        </p:nvSpPr>
        <p:spPr>
          <a:xfrm>
            <a:off x="548640" y="1371600"/>
            <a:ext cx="2468880" cy="1920240"/>
          </a:xfrm>
          <a:prstGeom prst="roundRect">
            <a:avLst>
              <a:gd name="adj" fmla="val 381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554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공고 수집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031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공사 공고·기초금액·A값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원문 저장·변경 이력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017520" y="1371600"/>
            <a:ext cx="365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→</a:t>
            </a:r>
            <a:endParaRPr lang="en-US" sz="2400" dirty="0"/>
          </a:p>
        </p:txBody>
      </p:sp>
      <p:sp>
        <p:nvSpPr>
          <p:cNvPr id="7" name="mvp-2"/>
          <p:cNvSpPr/>
          <p:nvPr/>
        </p:nvSpPr>
        <p:spPr>
          <a:xfrm>
            <a:off x="3383280" y="1371600"/>
            <a:ext cx="2468880" cy="1920240"/>
          </a:xfrm>
          <a:prstGeom prst="roundRect">
            <a:avLst>
              <a:gd name="adj" fmla="val 3810"/>
            </a:avLst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66160" y="1554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검색·상세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1031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지역·면허·금액·마감일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정정 이력 표시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852160" y="1371600"/>
            <a:ext cx="365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→</a:t>
            </a:r>
            <a:endParaRPr lang="en-US" sz="2400" dirty="0"/>
          </a:p>
        </p:txBody>
      </p:sp>
      <p:sp>
        <p:nvSpPr>
          <p:cNvPr id="11" name="mvp-3"/>
          <p:cNvSpPr/>
          <p:nvPr/>
        </p:nvSpPr>
        <p:spPr>
          <a:xfrm>
            <a:off x="6217920" y="1371600"/>
            <a:ext cx="2468880" cy="1920240"/>
          </a:xfrm>
          <a:prstGeom prst="roundRect">
            <a:avLst>
              <a:gd name="adj" fmla="val 3810"/>
            </a:avLst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0" y="1554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관심 공고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1031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공고 담기, 메모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(기본 로그인)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0" y="1371600"/>
            <a:ext cx="365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→</a:t>
            </a:r>
            <a:endParaRPr lang="en-US" sz="2400" dirty="0"/>
          </a:p>
        </p:txBody>
      </p:sp>
      <p:sp>
        <p:nvSpPr>
          <p:cNvPr id="15" name="mvp-4"/>
          <p:cNvSpPr/>
          <p:nvPr/>
        </p:nvSpPr>
        <p:spPr>
          <a:xfrm>
            <a:off x="9052560" y="1371600"/>
            <a:ext cx="2468880" cy="1920240"/>
          </a:xfrm>
          <a:prstGeom prst="roundRect">
            <a:avLst>
              <a:gd name="adj" fmla="val 3810"/>
            </a:avLst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235440" y="1554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투찰금액 계산기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9235440" y="21031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기본·A값·순공사원가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누구나 사용</a:t>
            </a:r>
            <a:endParaRPr lang="en-US" sz="1400" dirty="0"/>
          </a:p>
        </p:txBody>
      </p:sp>
      <p:sp>
        <p:nvSpPr>
          <p:cNvPr id="18" name="mvp-later"/>
          <p:cNvSpPr/>
          <p:nvPr/>
        </p:nvSpPr>
        <p:spPr>
          <a:xfrm>
            <a:off x="548640" y="3566160"/>
            <a:ext cx="11064240" cy="26060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3749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MVP 이후로 미룬 것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420624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용역·물품 분야 (공사 완성 후 확장)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회원 구독 상태·결제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개찰 결과 화면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폴더·휴지통 등 고급 서류함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126480" y="4206240"/>
            <a:ext cx="5212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알림 (이메일·푸시)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경쟁사 분석·적격심사 점수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나라장터 외 전자조달 기관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수집 구조: 증분 수집 + 재수집(Backfill)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30분마다 새 공고만 가져오면 누락과 정정 공고를 놓친다. 주기가 다른 네 가지 작업을 함께 돌린다.</a:t>
            </a:r>
            <a:endParaRPr lang="en-US" sz="1500" dirty="0"/>
          </a:p>
        </p:txBody>
      </p:sp>
      <p:sp>
        <p:nvSpPr>
          <p:cNvPr id="4" name="job-when-1"/>
          <p:cNvSpPr/>
          <p:nvPr/>
        </p:nvSpPr>
        <p:spPr>
          <a:xfrm>
            <a:off x="548640" y="1691640"/>
            <a:ext cx="2377440" cy="960120"/>
          </a:xfrm>
          <a:prstGeom prst="roundRect">
            <a:avLst>
              <a:gd name="adj" fmla="val 7619"/>
            </a:avLst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5~10분</a:t>
            </a:r>
            <a:endParaRPr lang="en-US" sz="2000" dirty="0"/>
          </a:p>
        </p:txBody>
      </p:sp>
      <p:sp>
        <p:nvSpPr>
          <p:cNvPr id="6" name="job-body-1"/>
          <p:cNvSpPr/>
          <p:nvPr/>
        </p:nvSpPr>
        <p:spPr>
          <a:xfrm>
            <a:off x="3108960" y="1691640"/>
            <a:ext cx="850392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383280" y="18013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증분 수집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2194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최근 변경된 공고만 빠르게 가져온다</a:t>
            </a:r>
            <a:endParaRPr lang="en-US" sz="1400" dirty="0"/>
          </a:p>
        </p:txBody>
      </p:sp>
      <p:sp>
        <p:nvSpPr>
          <p:cNvPr id="9" name="job-when-2"/>
          <p:cNvSpPr/>
          <p:nvPr/>
        </p:nvSpPr>
        <p:spPr>
          <a:xfrm>
            <a:off x="548640" y="2807208"/>
            <a:ext cx="2377440" cy="960120"/>
          </a:xfrm>
          <a:prstGeom prst="roundRect">
            <a:avLst>
              <a:gd name="adj" fmla="val 7619"/>
            </a:avLst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807208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30분~1시간</a:t>
            </a:r>
            <a:endParaRPr lang="en-US" sz="2000" dirty="0"/>
          </a:p>
        </p:txBody>
      </p:sp>
      <p:sp>
        <p:nvSpPr>
          <p:cNvPr id="11" name="job-body-2"/>
          <p:cNvSpPr/>
          <p:nvPr/>
        </p:nvSpPr>
        <p:spPr>
          <a:xfrm>
            <a:off x="3108960" y="2807208"/>
            <a:ext cx="850392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383280" y="2916936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최근 24시간 재수집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383280" y="331012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직전 하루치를 다시 받아 누락·정정을 채운다</a:t>
            </a:r>
            <a:endParaRPr lang="en-US" sz="1400" dirty="0"/>
          </a:p>
        </p:txBody>
      </p:sp>
      <p:sp>
        <p:nvSpPr>
          <p:cNvPr id="14" name="job-when-3"/>
          <p:cNvSpPr/>
          <p:nvPr/>
        </p:nvSpPr>
        <p:spPr>
          <a:xfrm>
            <a:off x="548640" y="3922776"/>
            <a:ext cx="2377440" cy="960120"/>
          </a:xfrm>
          <a:prstGeom prst="roundRect">
            <a:avLst>
              <a:gd name="adj" fmla="val 7619"/>
            </a:avLst>
          </a:prstGeom>
          <a:solidFill>
            <a:schemeClr val="tx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922776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매일 새벽</a:t>
            </a:r>
            <a:endParaRPr lang="en-US" sz="2000" dirty="0"/>
          </a:p>
        </p:txBody>
      </p:sp>
      <p:sp>
        <p:nvSpPr>
          <p:cNvPr id="16" name="job-body-3"/>
          <p:cNvSpPr/>
          <p:nvPr/>
        </p:nvSpPr>
        <p:spPr>
          <a:xfrm>
            <a:off x="3108960" y="3922776"/>
            <a:ext cx="850392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383280" y="4032504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최근 3~7일 재검증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3383280" y="4425696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원문 Hash를 비교해 바뀐 공고를 이력으로 남긴다</a:t>
            </a:r>
            <a:endParaRPr lang="en-US" sz="1400" dirty="0"/>
          </a:p>
        </p:txBody>
      </p:sp>
      <p:sp>
        <p:nvSpPr>
          <p:cNvPr id="19" name="job-when-4"/>
          <p:cNvSpPr/>
          <p:nvPr/>
        </p:nvSpPr>
        <p:spPr>
          <a:xfrm>
            <a:off x="548640" y="5038344"/>
            <a:ext cx="2377440" cy="960120"/>
          </a:xfrm>
          <a:prstGeom prst="roundRect">
            <a:avLst>
              <a:gd name="adj" fmla="val 7619"/>
            </a:avLst>
          </a:prstGeom>
          <a:solidFill>
            <a:schemeClr val="tx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5038344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주 1회</a:t>
            </a:r>
            <a:endParaRPr lang="en-US" sz="2000" dirty="0"/>
          </a:p>
        </p:txBody>
      </p:sp>
      <p:sp>
        <p:nvSpPr>
          <p:cNvPr id="21" name="job-body-4"/>
          <p:cNvSpPr/>
          <p:nvPr/>
        </p:nvSpPr>
        <p:spPr>
          <a:xfrm>
            <a:off x="3108960" y="5038344"/>
            <a:ext cx="850392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383280" y="514807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정합성 검사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3383280" y="5541264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누락·정정·취소 공고를 전수 점검하고 보고한다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공고 식별과 변경 이력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정정 공고를 단순 UPDATE하면 과거 상태를 볼 수 없다. 현재 상태와 이력, 원문을 세 테이블로 나눈다.</a:t>
            </a:r>
            <a:endParaRPr lang="en-US" sz="1500" dirty="0"/>
          </a:p>
        </p:txBody>
      </p:sp>
      <p:sp>
        <p:nvSpPr>
          <p:cNvPr id="4" name="t3-head-1"/>
          <p:cNvSpPr/>
          <p:nvPr/>
        </p:nvSpPr>
        <p:spPr>
          <a:xfrm>
            <a:off x="548640" y="1691640"/>
            <a:ext cx="356616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Notice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현재 공고 상태</a:t>
            </a:r>
            <a:endParaRPr lang="en-US" sz="1400" dirty="0"/>
          </a:p>
        </p:txBody>
      </p:sp>
      <p:sp>
        <p:nvSpPr>
          <p:cNvPr id="6" name="t3-body-1"/>
          <p:cNvSpPr/>
          <p:nvPr/>
        </p:nvSpPr>
        <p:spPr>
          <a:xfrm>
            <a:off x="548640" y="2697480"/>
            <a:ext cx="3566160" cy="347472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88036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SourceSystem · 업무구분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공고번호 · 공고차수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재공고 여부 · 정정 여부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최종 수정일시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최초 수집 · 최종 확인일시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원본 응답 Hash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현재 유효 여부</a:t>
            </a:r>
            <a:endParaRPr lang="en-US" sz="1400" dirty="0"/>
          </a:p>
        </p:txBody>
      </p:sp>
      <p:sp>
        <p:nvSpPr>
          <p:cNvPr id="8" name="t3-head-2"/>
          <p:cNvSpPr/>
          <p:nvPr/>
        </p:nvSpPr>
        <p:spPr>
          <a:xfrm>
            <a:off x="4297680" y="1691640"/>
            <a:ext cx="356616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0" y="16916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NoticeHistory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공고 변경 이력</a:t>
            </a:r>
            <a:endParaRPr lang="en-US" sz="1400" dirty="0"/>
          </a:p>
        </p:txBody>
      </p:sp>
      <p:sp>
        <p:nvSpPr>
          <p:cNvPr id="10" name="t3-body-2"/>
          <p:cNvSpPr/>
          <p:nvPr/>
        </p:nvSpPr>
        <p:spPr>
          <a:xfrm>
            <a:off x="4297680" y="2697480"/>
            <a:ext cx="3566160" cy="347472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0" y="288036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Notice 참조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변경 전·후 값 (스냅샷)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변경 유형 (정정·재공고·취소)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변경 감지 일시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원본 Hash</a:t>
            </a:r>
            <a:endParaRPr lang="en-US" sz="1400" dirty="0"/>
          </a:p>
        </p:txBody>
      </p:sp>
      <p:sp>
        <p:nvSpPr>
          <p:cNvPr id="12" name="t3-head-3"/>
          <p:cNvSpPr/>
          <p:nvPr/>
        </p:nvSpPr>
        <p:spPr>
          <a:xfrm>
            <a:off x="8046720" y="1691640"/>
            <a:ext cx="356616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21040" y="16916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ApiRawResponse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API 원문</a:t>
            </a:r>
            <a:endParaRPr lang="en-US" sz="1400" dirty="0"/>
          </a:p>
        </p:txBody>
      </p:sp>
      <p:sp>
        <p:nvSpPr>
          <p:cNvPr id="14" name="t3-body-3"/>
          <p:cNvSpPr/>
          <p:nvPr/>
        </p:nvSpPr>
        <p:spPr>
          <a:xfrm>
            <a:off x="8046720" y="2697480"/>
            <a:ext cx="3566160" cy="347472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21040" y="288036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ApiName · RequestParameter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BusinessType · BidNumber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ResponseJson · HttpStatus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CollectedAt · ParsedAt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ParseVersion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API 원문을 저장하는 이유</a:t>
            </a:r>
            <a:endParaRPr lang="en-US" sz="3000" dirty="0"/>
          </a:p>
        </p:txBody>
      </p:sp>
      <p:sp>
        <p:nvSpPr>
          <p:cNvPr id="3" name="raw-1"/>
          <p:cNvSpPr/>
          <p:nvPr/>
        </p:nvSpPr>
        <p:spPr>
          <a:xfrm>
            <a:off x="548640" y="1371600"/>
            <a:ext cx="544068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4" name="raw-badge-1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64592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필드 변경 대응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24028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API 응답 형식이 바뀌어도 원본을 보고 바로 원인을 찾는다</a:t>
            </a:r>
            <a:endParaRPr lang="en-US" sz="1500" dirty="0"/>
          </a:p>
        </p:txBody>
      </p:sp>
      <p:sp>
        <p:nvSpPr>
          <p:cNvPr id="8" name="raw-2"/>
          <p:cNvSpPr/>
          <p:nvPr/>
        </p:nvSpPr>
        <p:spPr>
          <a:xfrm>
            <a:off x="6172200" y="1371600"/>
            <a:ext cx="544068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9" name="raw-badge-2"/>
          <p:cNvSpPr/>
          <p:nvPr/>
        </p:nvSpPr>
        <p:spPr>
          <a:xfrm>
            <a:off x="644652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465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178040" y="164592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파싱 재처리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224028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파싱 오류를 고친 뒤 저장된 원문으로 다시 처리한다</a:t>
            </a:r>
            <a:endParaRPr lang="en-US" sz="1500" dirty="0"/>
          </a:p>
        </p:txBody>
      </p:sp>
      <p:sp>
        <p:nvSpPr>
          <p:cNvPr id="13" name="raw-3"/>
          <p:cNvSpPr/>
          <p:nvPr/>
        </p:nvSpPr>
        <p:spPr>
          <a:xfrm>
            <a:off x="548640" y="3200400"/>
            <a:ext cx="544068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4" name="raw-badge-3"/>
          <p:cNvSpPr/>
          <p:nvPr/>
        </p:nvSpPr>
        <p:spPr>
          <a:xfrm>
            <a:off x="822960" y="34747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347472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호출 없이 복구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06908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API를 다시 부르지 않고 원문에서 데이터를 되살린다</a:t>
            </a:r>
            <a:endParaRPr lang="en-US" sz="1500" dirty="0"/>
          </a:p>
        </p:txBody>
      </p:sp>
      <p:sp>
        <p:nvSpPr>
          <p:cNvPr id="18" name="raw-4"/>
          <p:cNvSpPr/>
          <p:nvPr/>
        </p:nvSpPr>
        <p:spPr>
          <a:xfrm>
            <a:off x="6172200" y="3200400"/>
            <a:ext cx="544068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9" name="raw-badge-4"/>
          <p:cNvSpPr/>
          <p:nvPr/>
        </p:nvSpPr>
        <p:spPr>
          <a:xfrm>
            <a:off x="6446520" y="34747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4652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178040" y="347472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장애 분석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406908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언제 무엇이 빠졌는지 원문과 수집 로그로 추적한다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257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ParseVersion을 함께 저장해, 어떤 파서 버전으로 처리한 데이터인지 구분한다.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데이터 출처와 확장 구조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694944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31089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API (공공데이터포털 서비스명)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쓰임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조달청_나라장터 입찰공고정보서비스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공고 목록과 상세, 기초금액, 면허 제한, 참가 가능 지역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조달청_나라장터 낙찰정보서비스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개찰 결과, 업체별 투찰 순위·금액·투찰률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조달청_나라장터 사용자정보서비스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발주기관·조달업체 기본 정보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조달청_나라장터 계약정보서비스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계약 체결 내역 (실적 분석용)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collector-box"/>
          <p:cNvSpPr/>
          <p:nvPr/>
        </p:nvSpPr>
        <p:spPr>
          <a:xfrm>
            <a:off x="7772400" y="1325880"/>
            <a:ext cx="3840480" cy="4846320"/>
          </a:xfrm>
          <a:prstGeom prst="roundRect">
            <a:avLst>
              <a:gd name="adj" fmla="val 1905"/>
            </a:avLst>
          </a:prstGeom>
          <a:solidFill>
            <a:schemeClr val="tx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046720" y="1508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수집기 인터페이스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8046720" y="1920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IBidCollector</a:t>
            </a:r>
            <a:endParaRPr lang="en-US" sz="1500" dirty="0"/>
          </a:p>
        </p:txBody>
      </p:sp>
      <p:sp>
        <p:nvSpPr>
          <p:cNvPr id="7" name="collector-1"/>
          <p:cNvSpPr/>
          <p:nvPr/>
        </p:nvSpPr>
        <p:spPr>
          <a:xfrm>
            <a:off x="8046720" y="2423160"/>
            <a:ext cx="3291840" cy="64008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0" y="24231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G2BCollector  </a:t>
            </a:r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나라장터 · MVP</a:t>
            </a:r>
            <a:endParaRPr lang="en-US" sz="1400" dirty="0"/>
          </a:p>
        </p:txBody>
      </p:sp>
      <p:sp>
        <p:nvSpPr>
          <p:cNvPr id="9" name="collector-2"/>
          <p:cNvSpPr/>
          <p:nvPr/>
        </p:nvSpPr>
        <p:spPr>
          <a:xfrm>
            <a:off x="8046720" y="3200400"/>
            <a:ext cx="329184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29600" y="32004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D2BCollector  </a:t>
            </a:r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국방전자조달</a:t>
            </a:r>
            <a:endParaRPr lang="en-US" sz="1400" dirty="0"/>
          </a:p>
        </p:txBody>
      </p:sp>
      <p:sp>
        <p:nvSpPr>
          <p:cNvPr id="11" name="collector-3"/>
          <p:cNvSpPr/>
          <p:nvPr/>
        </p:nvSpPr>
        <p:spPr>
          <a:xfrm>
            <a:off x="8046720" y="3977640"/>
            <a:ext cx="329184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0" y="39776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KepcoCollector  </a:t>
            </a:r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한국전력</a:t>
            </a:r>
            <a:endParaRPr lang="en-US" sz="1400" dirty="0"/>
          </a:p>
        </p:txBody>
      </p:sp>
      <p:sp>
        <p:nvSpPr>
          <p:cNvPr id="13" name="collector-4"/>
          <p:cNvSpPr/>
          <p:nvPr/>
        </p:nvSpPr>
        <p:spPr>
          <a:xfrm>
            <a:off x="8046720" y="4754880"/>
            <a:ext cx="329184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229600" y="47548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LHCollector  </a:t>
            </a:r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LH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425196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처음에는 G2BCollector만 구현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모든 테이블에 SourceSystem 컬럼 (G2B · D2B · KEPCO · LH)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A값 위치와 차세대 전환 후 필드 변화는 1단계에서 실제 응답으로 확인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전체 시스템 구조</a:t>
            </a:r>
            <a:endParaRPr lang="en-US" sz="3000" dirty="0"/>
          </a:p>
        </p:txBody>
      </p:sp>
      <p:sp>
        <p:nvSpPr>
          <p:cNvPr id="3" name="layer-1"/>
          <p:cNvSpPr/>
          <p:nvPr/>
        </p:nvSpPr>
        <p:spPr>
          <a:xfrm>
            <a:off x="548640" y="1234440"/>
            <a:ext cx="11064240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234440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외부 데이터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566160" y="1234440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나라장터 · 국방전자조달 · 한전 · LH</a:t>
            </a:r>
            <a:endParaRPr lang="en-US" sz="1400" dirty="0"/>
          </a:p>
        </p:txBody>
      </p:sp>
      <p:sp>
        <p:nvSpPr>
          <p:cNvPr id="6" name="layer-2"/>
          <p:cNvSpPr/>
          <p:nvPr/>
        </p:nvSpPr>
        <p:spPr>
          <a:xfrm>
            <a:off x="548640" y="1856232"/>
            <a:ext cx="11064240" cy="512064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856232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Collector Workers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1856232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API 수집 · 재수집 · 정정 확인 · 원문 저장</a:t>
            </a:r>
            <a:endParaRPr lang="en-US" sz="1400" dirty="0"/>
          </a:p>
        </p:txBody>
      </p:sp>
      <p:sp>
        <p:nvSpPr>
          <p:cNvPr id="9" name="layer-3"/>
          <p:cNvSpPr/>
          <p:nvPr/>
        </p:nvSpPr>
        <p:spPr>
          <a:xfrm>
            <a:off x="548640" y="2478024"/>
            <a:ext cx="11064240" cy="512064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478024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Data Processing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478024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정규화 · 중복 제거 · 변경 이력 · 품질 검증</a:t>
            </a:r>
            <a:endParaRPr lang="en-US" sz="1400" dirty="0"/>
          </a:p>
        </p:txBody>
      </p:sp>
      <p:sp>
        <p:nvSpPr>
          <p:cNvPr id="12" name="layer-4"/>
          <p:cNvSpPr/>
          <p:nvPr/>
        </p:nvSpPr>
        <p:spPr>
          <a:xfrm>
            <a:off x="548640" y="3099816"/>
            <a:ext cx="11064240" cy="512064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3099816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PostgreSQL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3099816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Notice · NoticeHistory · BidResult · Company · Member · MyBid · RawData · CollectLog</a:t>
            </a:r>
            <a:endParaRPr lang="en-US" sz="1400" dirty="0"/>
          </a:p>
        </p:txBody>
      </p:sp>
      <p:sp>
        <p:nvSpPr>
          <p:cNvPr id="15" name="layer-5"/>
          <p:cNvSpPr/>
          <p:nvPr/>
        </p:nvSpPr>
        <p:spPr>
          <a:xfrm>
            <a:off x="548640" y="3721608"/>
            <a:ext cx="11064240" cy="512064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721608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Search Layer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566160" y="3721608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초기 PostgreSQL (pg_trgm) → 필요 시 OpenSearch</a:t>
            </a:r>
            <a:endParaRPr lang="en-US" sz="1400" dirty="0"/>
          </a:p>
        </p:txBody>
      </p:sp>
      <p:sp>
        <p:nvSpPr>
          <p:cNvPr id="18" name="layer-6"/>
          <p:cNvSpPr/>
          <p:nvPr/>
        </p:nvSpPr>
        <p:spPr>
          <a:xfrm>
            <a:off x="548640" y="4343400"/>
            <a:ext cx="11064240" cy="512064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" y="4343400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ASP.NET Core API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566160" y="4343400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인증 · 검색 · 공고 · 계산 · 구독 · 알림</a:t>
            </a:r>
            <a:endParaRPr lang="en-US" sz="1400" dirty="0"/>
          </a:p>
        </p:txBody>
      </p:sp>
      <p:sp>
        <p:nvSpPr>
          <p:cNvPr id="21" name="layer-7"/>
          <p:cNvSpPr/>
          <p:nvPr/>
        </p:nvSpPr>
        <p:spPr>
          <a:xfrm>
            <a:off x="548640" y="4965192"/>
            <a:ext cx="11064240" cy="512064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4965192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Web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566160" y="4965192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Blazor 또는 React · PC + 모바일</a:t>
            </a:r>
            <a:endParaRPr lang="en-US" sz="1400" dirty="0"/>
          </a:p>
        </p:txBody>
      </p:sp>
      <p:sp>
        <p:nvSpPr>
          <p:cNvPr id="24" name="layer-8"/>
          <p:cNvSpPr/>
          <p:nvPr/>
        </p:nvSpPr>
        <p:spPr>
          <a:xfrm>
            <a:off x="548640" y="5586984"/>
            <a:ext cx="11064240" cy="512064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7240" y="5586984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Workers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3566160" y="5586984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메일 · 결제 Webhook · 마감 알림 · 개찰 알림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프로젝트 구조: 웹과 수집기를 처음부터 분리</a:t>
            </a:r>
            <a:endParaRPr lang="en-US" sz="3000" dirty="0"/>
          </a:p>
        </p:txBody>
      </p:sp>
      <p:sp>
        <p:nvSpPr>
          <p:cNvPr id="3" name="proj-1"/>
          <p:cNvSpPr/>
          <p:nvPr/>
        </p:nvSpPr>
        <p:spPr>
          <a:xfrm>
            <a:off x="548640" y="1371600"/>
            <a:ext cx="60350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3716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Bid.Domain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200400" y="13716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공고·개찰·회원 엔티티, 투찰금액 계산 규칙</a:t>
            </a:r>
            <a:endParaRPr lang="en-US" sz="1300" dirty="0"/>
          </a:p>
        </p:txBody>
      </p:sp>
      <p:sp>
        <p:nvSpPr>
          <p:cNvPr id="6" name="proj-2"/>
          <p:cNvSpPr/>
          <p:nvPr/>
        </p:nvSpPr>
        <p:spPr>
          <a:xfrm>
            <a:off x="548640" y="2240280"/>
            <a:ext cx="60350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2402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Bid.Application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200400" y="22402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검색·관심 공고·구독 유스케이스</a:t>
            </a:r>
            <a:endParaRPr lang="en-US" sz="1300" dirty="0"/>
          </a:p>
        </p:txBody>
      </p:sp>
      <p:sp>
        <p:nvSpPr>
          <p:cNvPr id="9" name="proj-3"/>
          <p:cNvSpPr/>
          <p:nvPr/>
        </p:nvSpPr>
        <p:spPr>
          <a:xfrm>
            <a:off x="548640" y="3108960"/>
            <a:ext cx="60350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1089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Bid.Infrastructure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200400" y="31089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EF Core, PostgreSQL, 외부 API 클라이언트</a:t>
            </a:r>
            <a:endParaRPr lang="en-US" sz="1300" dirty="0"/>
          </a:p>
        </p:txBody>
      </p:sp>
      <p:sp>
        <p:nvSpPr>
          <p:cNvPr id="12" name="proj-4"/>
          <p:cNvSpPr/>
          <p:nvPr/>
        </p:nvSpPr>
        <p:spPr>
          <a:xfrm>
            <a:off x="548640" y="3977640"/>
            <a:ext cx="603504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39776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Bid.Web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200400" y="39776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화면과 API (인증·검색·공고·계산)</a:t>
            </a:r>
            <a:endParaRPr lang="en-US" sz="1300" dirty="0"/>
          </a:p>
        </p:txBody>
      </p:sp>
      <p:sp>
        <p:nvSpPr>
          <p:cNvPr id="15" name="proj-5"/>
          <p:cNvSpPr/>
          <p:nvPr/>
        </p:nvSpPr>
        <p:spPr>
          <a:xfrm>
            <a:off x="548640" y="4846320"/>
            <a:ext cx="603504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8463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Bid.Collector.Worker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200400" y="48463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Hangfire 수집·재수집·정합성 작업</a:t>
            </a:r>
            <a:endParaRPr lang="en-US" sz="1300" dirty="0"/>
          </a:p>
        </p:txBody>
      </p:sp>
      <p:sp>
        <p:nvSpPr>
          <p:cNvPr id="18" name="deploy-box"/>
          <p:cNvSpPr/>
          <p:nvPr/>
        </p:nvSpPr>
        <p:spPr>
          <a:xfrm>
            <a:off x="6858000" y="1371600"/>
            <a:ext cx="4754880" cy="4206240"/>
          </a:xfrm>
          <a:prstGeom prst="roundRect">
            <a:avLst>
              <a:gd name="adj" fmla="val 1739"/>
            </a:avLst>
          </a:prstGeom>
          <a:solidFill>
            <a:schemeClr val="tx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32320" y="15544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배포는 단계적으로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7132320" y="210312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초기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VM 1대에서 Web과 Collector를 함께 실행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확장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Web Server · Collector Server · Notification Worker를 각각 독립 확장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기술 스택</a:t>
            </a:r>
            <a:endParaRPr lang="en-US" sz="3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840480"/>
                <a:gridCol w="594360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구성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선택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이유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API·웹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ASP.NET Core (.NET 10)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기존 프로젝트(AlphaNest·MirrorMeal)와 같은 스택이라 재사용 쉬움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화면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Blazor Server 또는 API + Blazor WASM/React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결정 사항 참고 (초기 속도 vs 장기 확장성)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DB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PostgreSQL + EF Core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대량 적재와 JSON 원문 저장(jsonb)에 유리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검색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pg_trgm + ILIKE + GIN 인덱스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MVP에 충분. 수백만 건·복잡 조건이 되면 OpenSearch 분리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배치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Hangfire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재시도·실패 기록·대시보드 기본 제공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인증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ASP.NET Core Identity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비밀번호 해시, 잠금, 2단계 인증 기본 제공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테스트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xUnit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투찰금액 계산·파싱은 공식별·응답별 테스트 필수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배포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국내 클라우드 VM + 관리형 DB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개인정보 보호와 국내 고객 대상 서비스의 운영·보안·컴플라이언스 관리 용이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핵심 데이터 모델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7240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테이블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주요 내용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Notice · NoticeHistory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현재 공고 상태(SourceSystem, 공고번호·차수, 정정·재공고, Hash, 유효 여부) / 변경 이력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ApiRawResponse · CollectLog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API 원문(ResponseJson, ParseVersion) / 수집 작업별 범위·건수·실패 사유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NoticeLicense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공고별 업종 면허 (공고 하나에 여러 면허)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BidResult · Company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개찰 순위·투찰금액·투찰률 / 업체 정보 (경쟁사 분석용)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Member · SavedSearch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회원, 사업자번호, 알림 설정, 저장한 검색 조건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Folder · FolderItem · MyBid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관심 공고·메모·휴지통 / 내 투찰 기록과 개찰 결과 매칭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Subscription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구독 상태와 결제 주기 (다음 장 상세)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Payment · PgWebhookLog · TaxInvoice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결제 내역, PG 거래번호 / Webhook 원문·검증·처리 이력 / 세금계산서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정기결제 데이터 모델 강화</a:t>
            </a:r>
            <a:endParaRPr lang="en-US" sz="3000" dirty="0"/>
          </a:p>
        </p:txBody>
      </p:sp>
      <p:sp>
        <p:nvSpPr>
          <p:cNvPr id="3" name="pay-head-1"/>
          <p:cNvSpPr/>
          <p:nvPr/>
        </p:nvSpPr>
        <p:spPr>
          <a:xfrm>
            <a:off x="548640" y="1325880"/>
            <a:ext cx="356616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258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구독 주기</a:t>
            </a:r>
            <a:endParaRPr lang="en-US" sz="1900" dirty="0"/>
          </a:p>
        </p:txBody>
      </p:sp>
      <p:sp>
        <p:nvSpPr>
          <p:cNvPr id="5" name="pay-body-1"/>
          <p:cNvSpPr/>
          <p:nvPr/>
        </p:nvSpPr>
        <p:spPr>
          <a:xfrm>
            <a:off x="548640" y="2194560"/>
            <a:ext cx="3566160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7744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구독 시작일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다음 결제일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자동결제 여부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결제금액</a:t>
            </a:r>
            <a:endParaRPr lang="en-US" sz="1500" dirty="0"/>
          </a:p>
        </p:txBody>
      </p:sp>
      <p:sp>
        <p:nvSpPr>
          <p:cNvPr id="7" name="pay-head-2"/>
          <p:cNvSpPr/>
          <p:nvPr/>
        </p:nvSpPr>
        <p:spPr>
          <a:xfrm>
            <a:off x="4297680" y="1325880"/>
            <a:ext cx="356616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0" y="13258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해지·환불</a:t>
            </a:r>
            <a:endParaRPr lang="en-US" sz="1900" dirty="0"/>
          </a:p>
        </p:txBody>
      </p:sp>
      <p:sp>
        <p:nvSpPr>
          <p:cNvPr id="9" name="pay-body-2"/>
          <p:cNvSpPr/>
          <p:nvPr/>
        </p:nvSpPr>
        <p:spPr>
          <a:xfrm>
            <a:off x="4297680" y="2194560"/>
            <a:ext cx="3566160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0" y="237744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해지 예약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해지 완료일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환불 상태</a:t>
            </a:r>
            <a:endParaRPr lang="en-US" sz="1500" dirty="0"/>
          </a:p>
        </p:txBody>
      </p:sp>
      <p:sp>
        <p:nvSpPr>
          <p:cNvPr id="11" name="pay-head-3"/>
          <p:cNvSpPr/>
          <p:nvPr/>
        </p:nvSpPr>
        <p:spPr>
          <a:xfrm>
            <a:off x="8046720" y="1325880"/>
            <a:ext cx="356616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321040" y="13258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결제 추적</a:t>
            </a:r>
            <a:endParaRPr lang="en-US" sz="1900" dirty="0"/>
          </a:p>
        </p:txBody>
      </p:sp>
      <p:sp>
        <p:nvSpPr>
          <p:cNvPr id="13" name="pay-body-3"/>
          <p:cNvSpPr/>
          <p:nvPr/>
        </p:nvSpPr>
        <p:spPr>
          <a:xfrm>
            <a:off x="8046720" y="2194560"/>
            <a:ext cx="3566160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21040" y="237744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PG 거래번호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PG Webhook 원문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결제 실패 횟수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마지막 결제 시도일</a:t>
            </a:r>
            <a:endParaRPr lang="en-US" sz="1500" dirty="0"/>
          </a:p>
        </p:txBody>
      </p:sp>
      <p:sp>
        <p:nvSpPr>
          <p:cNvPr id="15" name="pay-note"/>
          <p:cNvSpPr/>
          <p:nvPr/>
        </p:nvSpPr>
        <p:spPr>
          <a:xfrm>
            <a:off x="548640" y="5074920"/>
            <a:ext cx="1106424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50749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필수 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PG Webhook은 서버에서 서명을 검증하고, 원문과 처리 이력을 PgWebhookLog에 남긴다.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개발 순서와 일정 (개발자 1명 기준)</a:t>
            </a:r>
            <a:endParaRPr lang="en-US" sz="3000" dirty="0"/>
          </a:p>
        </p:txBody>
      </p:sp>
      <p:sp>
        <p:nvSpPr>
          <p:cNvPr id="3" name="timeline-axis"/>
          <p:cNvSpPr/>
          <p:nvPr/>
        </p:nvSpPr>
        <p:spPr>
          <a:xfrm>
            <a:off x="822960" y="1965960"/>
            <a:ext cx="10607040" cy="0"/>
          </a:xfrm>
          <a:prstGeom prst="line">
            <a:avLst/>
          </a:prstGeom>
          <a:noFill/>
          <a:ln w="38100">
            <a:solidFill>
              <a:srgbClr val="D6E5E3"/>
            </a:solidFill>
            <a:prstDash val="solid"/>
          </a:ln>
        </p:spPr>
      </p:sp>
      <p:sp>
        <p:nvSpPr>
          <p:cNvPr id="4" name="tl-dot-1"/>
          <p:cNvSpPr/>
          <p:nvPr/>
        </p:nvSpPr>
        <p:spPr>
          <a:xfrm>
            <a:off x="640080" y="164592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1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6916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1~2주</a:t>
            </a:r>
            <a:endParaRPr lang="en-US" sz="1300" dirty="0"/>
          </a:p>
        </p:txBody>
      </p:sp>
      <p:sp>
        <p:nvSpPr>
          <p:cNvPr id="7" name="tl-card-1"/>
          <p:cNvSpPr/>
          <p:nvPr/>
        </p:nvSpPr>
        <p:spPr>
          <a:xfrm>
            <a:off x="548640" y="2560320"/>
            <a:ext cx="1737360" cy="27432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2697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1단계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9718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API 분석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703320"/>
            <a:ext cx="1508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실제 응답 분석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데이터 모델 확정</a:t>
            </a:r>
            <a:endParaRPr lang="en-US" sz="1300" dirty="0"/>
          </a:p>
        </p:txBody>
      </p:sp>
      <p:sp>
        <p:nvSpPr>
          <p:cNvPr id="11" name="tl-dot-2"/>
          <p:cNvSpPr/>
          <p:nvPr/>
        </p:nvSpPr>
        <p:spPr>
          <a:xfrm>
            <a:off x="2505456" y="164592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505456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2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3191256" y="16916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3~5주</a:t>
            </a:r>
            <a:endParaRPr lang="en-US" sz="1300" dirty="0"/>
          </a:p>
        </p:txBody>
      </p:sp>
      <p:sp>
        <p:nvSpPr>
          <p:cNvPr id="14" name="tl-card-2"/>
          <p:cNvSpPr/>
          <p:nvPr/>
        </p:nvSpPr>
        <p:spPr>
          <a:xfrm>
            <a:off x="2414016" y="2560320"/>
            <a:ext cx="1737360" cy="27432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551176" y="2697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2단계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551176" y="29718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수집 기반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2551176" y="3703320"/>
            <a:ext cx="1508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원문 저장·공고 수집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변경 이력·재수집</a:t>
            </a:r>
            <a:endParaRPr lang="en-US" sz="1300" dirty="0"/>
          </a:p>
        </p:txBody>
      </p:sp>
      <p:sp>
        <p:nvSpPr>
          <p:cNvPr id="18" name="tl-dot-3"/>
          <p:cNvSpPr/>
          <p:nvPr/>
        </p:nvSpPr>
        <p:spPr>
          <a:xfrm>
            <a:off x="4370832" y="164592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370832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3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5056632" y="16916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6~7주</a:t>
            </a:r>
            <a:endParaRPr lang="en-US" sz="1300" dirty="0"/>
          </a:p>
        </p:txBody>
      </p:sp>
      <p:sp>
        <p:nvSpPr>
          <p:cNvPr id="21" name="tl-card-3"/>
          <p:cNvSpPr/>
          <p:nvPr/>
        </p:nvSpPr>
        <p:spPr>
          <a:xfrm>
            <a:off x="4279392" y="2560320"/>
            <a:ext cx="1737360" cy="27432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416552" y="2697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3단계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416552" y="29718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검색·상세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4416552" y="3703320"/>
            <a:ext cx="1508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공사 공고 검색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정정 이력 표시</a:t>
            </a:r>
            <a:endParaRPr lang="en-US" sz="1300" dirty="0"/>
          </a:p>
        </p:txBody>
      </p:sp>
      <p:sp>
        <p:nvSpPr>
          <p:cNvPr id="25" name="tl-dot-4"/>
          <p:cNvSpPr/>
          <p:nvPr/>
        </p:nvSpPr>
        <p:spPr>
          <a:xfrm>
            <a:off x="6236208" y="16459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36208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4</a:t>
            </a:r>
            <a:endParaRPr lang="en-US" sz="2100" dirty="0"/>
          </a:p>
        </p:txBody>
      </p:sp>
      <p:sp>
        <p:nvSpPr>
          <p:cNvPr id="27" name="Text 25"/>
          <p:cNvSpPr txBox="1"/>
          <p:nvPr/>
        </p:nvSpPr>
        <p:spPr>
          <a:xfrm>
            <a:off x="6922008" y="16916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8~9주</a:t>
            </a:r>
            <a:endParaRPr lang="en-US" sz="1300" dirty="0"/>
          </a:p>
        </p:txBody>
      </p:sp>
      <p:sp>
        <p:nvSpPr>
          <p:cNvPr id="28" name="tl-card-4"/>
          <p:cNvSpPr/>
          <p:nvPr/>
        </p:nvSpPr>
        <p:spPr>
          <a:xfrm>
            <a:off x="6144768" y="2560320"/>
            <a:ext cx="1737360" cy="2743200"/>
          </a:xfrm>
          <a:prstGeom prst="roundRect">
            <a:avLst>
              <a:gd name="adj" fmla="val 4211"/>
            </a:avLst>
          </a:prstGeom>
          <a:solidFill>
            <a:schemeClr val="accent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281928" y="2697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4단계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281928" y="29718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관심 공고·계산기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281928" y="3703320"/>
            <a:ext cx="1508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기본 로그인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MVP 비공개 베타</a:t>
            </a:r>
            <a:endParaRPr lang="en-US" sz="1300" dirty="0"/>
          </a:p>
        </p:txBody>
      </p:sp>
      <p:sp>
        <p:nvSpPr>
          <p:cNvPr id="32" name="tl-dot-5"/>
          <p:cNvSpPr/>
          <p:nvPr/>
        </p:nvSpPr>
        <p:spPr>
          <a:xfrm>
            <a:off x="8101584" y="164592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101584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5</a:t>
            </a:r>
            <a:endParaRPr lang="en-US" sz="2100" dirty="0"/>
          </a:p>
        </p:txBody>
      </p:sp>
      <p:sp>
        <p:nvSpPr>
          <p:cNvPr id="34" name="Text 32"/>
          <p:cNvSpPr txBox="1"/>
          <p:nvPr/>
        </p:nvSpPr>
        <p:spPr>
          <a:xfrm>
            <a:off x="8787384" y="16916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10~14주</a:t>
            </a:r>
            <a:endParaRPr lang="en-US" sz="1300" dirty="0"/>
          </a:p>
        </p:txBody>
      </p:sp>
      <p:sp>
        <p:nvSpPr>
          <p:cNvPr id="35" name="tl-card-5"/>
          <p:cNvSpPr/>
          <p:nvPr/>
        </p:nvSpPr>
        <p:spPr>
          <a:xfrm>
            <a:off x="8010144" y="2560320"/>
            <a:ext cx="1737360" cy="27432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147304" y="2697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5단계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8147304" y="29718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구독·결제·알림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8147304" y="3703320"/>
            <a:ext cx="1508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정기결제·Webhook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이메일 알림, 정식 오픈</a:t>
            </a:r>
            <a:endParaRPr lang="en-US" sz="1300" dirty="0"/>
          </a:p>
        </p:txBody>
      </p:sp>
      <p:sp>
        <p:nvSpPr>
          <p:cNvPr id="39" name="tl-dot-6"/>
          <p:cNvSpPr/>
          <p:nvPr/>
        </p:nvSpPr>
        <p:spPr>
          <a:xfrm>
            <a:off x="9966960" y="164592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996696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6</a:t>
            </a:r>
            <a:endParaRPr lang="en-US" sz="2100" dirty="0"/>
          </a:p>
        </p:txBody>
      </p:sp>
      <p:sp>
        <p:nvSpPr>
          <p:cNvPr id="41" name="Text 39"/>
          <p:cNvSpPr txBox="1"/>
          <p:nvPr/>
        </p:nvSpPr>
        <p:spPr>
          <a:xfrm>
            <a:off x="10652760" y="16916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15주~</a:t>
            </a:r>
            <a:endParaRPr lang="en-US" sz="1300" dirty="0"/>
          </a:p>
        </p:txBody>
      </p:sp>
      <p:sp>
        <p:nvSpPr>
          <p:cNvPr id="42" name="tl-card-6"/>
          <p:cNvSpPr/>
          <p:nvPr/>
        </p:nvSpPr>
        <p:spPr>
          <a:xfrm>
            <a:off x="9875520" y="2560320"/>
            <a:ext cx="1737360" cy="27432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10012680" y="2697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6단계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10012680" y="29718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확장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10012680" y="3703320"/>
            <a:ext cx="1508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경쟁사·적격심사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용역·물품, 외부 전자조달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4단계 끝(9주)이 MVP. 1~2단계에서 수집 정확도가 확보되지 않으면 3단계로 넘어가지 않는다.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리스크와 대응</a:t>
            </a:r>
            <a:endParaRPr lang="en-US" sz="3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74066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리스크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대응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공고 누락·정정 미반영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증분 + 재수집 + 일일 재검증 + 주간 정합성 검사, 수집 건수 이상 알림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API 필드 변경·파싱 오류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원문 저장 후 ParseVersion별 재처리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벤치마크 콘텐츠·디자인 복제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약관상 복제 금지. 원출처나 자체 제작물만 사용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계산 오류로 회원이 심사 탈락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공식별 단위 테스트, '참고용' 표시, 약관 면책 조항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개인정보 처리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최소 수집(주민등록번호 미수집). 수집·이용·보관·파기·국외 이전 여부는 별도 법률 검토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결제 위변조·누락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Webhook 서버 검증, 원문·처리 이력 보관, 실패 횟수 추적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사용자 증가 시 Blazor Server 연결 부하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SignalR 연결 수 모니터링, 필요 시 API + 클라이언트 분리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결정이 필요한 사항</a:t>
            </a:r>
            <a:endParaRPr lang="en-US" sz="3000" dirty="0"/>
          </a:p>
        </p:txBody>
      </p:sp>
      <p:sp>
        <p:nvSpPr>
          <p:cNvPr id="3" name="decision-1"/>
          <p:cNvSpPr/>
          <p:nvPr/>
        </p:nvSpPr>
        <p:spPr>
          <a:xfrm>
            <a:off x="548640" y="1371600"/>
            <a:ext cx="1106424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4" name="decision-badge-1"/>
          <p:cNvSpPr/>
          <p:nvPr/>
        </p:nvSpPr>
        <p:spPr>
          <a:xfrm>
            <a:off x="777240" y="1527048"/>
            <a:ext cx="493776" cy="49377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5270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?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371600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화면 방식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3931920" y="1371600"/>
            <a:ext cx="7498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A안 Blazor Server (초기 속도) / B안 Web API + Blazor WASM·React (장기 확장성)</a:t>
            </a:r>
            <a:endParaRPr lang="en-US" sz="1500" dirty="0"/>
          </a:p>
        </p:txBody>
      </p:sp>
      <p:sp>
        <p:nvSpPr>
          <p:cNvPr id="8" name="decision-2"/>
          <p:cNvSpPr/>
          <p:nvPr/>
        </p:nvSpPr>
        <p:spPr>
          <a:xfrm>
            <a:off x="548640" y="2322576"/>
            <a:ext cx="1106424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9" name="decision-badge-2"/>
          <p:cNvSpPr/>
          <p:nvPr/>
        </p:nvSpPr>
        <p:spPr>
          <a:xfrm>
            <a:off x="777240" y="2478024"/>
            <a:ext cx="493776" cy="49377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47802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?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2322576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확장 순서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2322576"/>
            <a:ext cx="7498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MVP 후 용역·물품 먼저, 또는 외부 전자조달(D2B·한전·LH) 먼저</a:t>
            </a:r>
            <a:endParaRPr lang="en-US" sz="1500" dirty="0"/>
          </a:p>
        </p:txBody>
      </p:sp>
      <p:sp>
        <p:nvSpPr>
          <p:cNvPr id="13" name="decision-3"/>
          <p:cNvSpPr/>
          <p:nvPr/>
        </p:nvSpPr>
        <p:spPr>
          <a:xfrm>
            <a:off x="548640" y="3273552"/>
            <a:ext cx="1106424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4" name="decision-badge-3"/>
          <p:cNvSpPr/>
          <p:nvPr/>
        </p:nvSpPr>
        <p:spPr>
          <a:xfrm>
            <a:off x="777240" y="3429000"/>
            <a:ext cx="493776" cy="49377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4290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?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3273552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대상 고객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3931920" y="3273552"/>
            <a:ext cx="7498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지역 중소 건설사, 또는 전국 단위</a:t>
            </a:r>
            <a:endParaRPr lang="en-US" sz="1500" dirty="0"/>
          </a:p>
        </p:txBody>
      </p:sp>
      <p:sp>
        <p:nvSpPr>
          <p:cNvPr id="18" name="decision-4"/>
          <p:cNvSpPr/>
          <p:nvPr/>
        </p:nvSpPr>
        <p:spPr>
          <a:xfrm>
            <a:off x="548640" y="4224528"/>
            <a:ext cx="1106424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9" name="decision-badge-4"/>
          <p:cNvSpPr/>
          <p:nvPr/>
        </p:nvSpPr>
        <p:spPr>
          <a:xfrm>
            <a:off x="777240" y="4379976"/>
            <a:ext cx="493776" cy="49377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437997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?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508760" y="4224528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요금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3931920" y="4224528"/>
            <a:ext cx="7498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월 2만 원대 단일 요금, 또는 무료+유료 등급</a:t>
            </a:r>
            <a:endParaRPr lang="en-US" sz="1500" dirty="0"/>
          </a:p>
        </p:txBody>
      </p:sp>
      <p:sp>
        <p:nvSpPr>
          <p:cNvPr id="23" name="decision-5"/>
          <p:cNvSpPr/>
          <p:nvPr/>
        </p:nvSpPr>
        <p:spPr>
          <a:xfrm>
            <a:off x="548640" y="5175504"/>
            <a:ext cx="1106424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24" name="decision-badge-5"/>
          <p:cNvSpPr/>
          <p:nvPr/>
        </p:nvSpPr>
        <p:spPr>
          <a:xfrm>
            <a:off x="777240" y="5330952"/>
            <a:ext cx="493776" cy="49377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7240" y="53309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?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508760" y="5175504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호스팅·법률 검토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3931920" y="5175504"/>
            <a:ext cx="7498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클라우드 월 예산, 개인정보·약관 법률 검토 시점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다음 단계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결정 사항 확정 → 나라장터 실제 API 응답 분석 → 데이터 모델 확정 후 수집 기반 개발 착수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id Service">
  <a:themeElements>
    <a:clrScheme name="Bid Service">
      <a:dk1>
        <a:srgbClr val="1A2230"/>
      </a:dk1>
      <a:lt1>
        <a:srgbClr val="FFFFFF"/>
      </a:lt1>
      <a:dk2>
        <a:srgbClr val="0F3D3E"/>
      </a:dk2>
      <a:lt2>
        <a:srgbClr val="EDF3F2"/>
      </a:lt2>
      <a:accent1>
        <a:srgbClr val="1F6F6B"/>
      </a:accent1>
      <a:accent2>
        <a:srgbClr val="C98A00"/>
      </a:accent2>
      <a:accent3>
        <a:srgbClr val="B4432F"/>
      </a:accent3>
      <a:accent4>
        <a:srgbClr val="2E7D4F"/>
      </a:accent4>
      <a:accent5>
        <a:srgbClr val="6B7785"/>
      </a:accent5>
      <a:accent6>
        <a:srgbClr val="D6E5E3"/>
      </a:accent6>
      <a:hlink>
        <a:srgbClr val="1F6F6B"/>
      </a:hlink>
      <a:folHlink>
        <a:srgbClr val="6B7785"/>
      </a:folHlink>
    </a:clrScheme>
    <a:fontScheme name="Bid Serv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입찰정보 서비스 개발 계획서 v0.2</dc:title>
  <dc:subject>PptxGenJS Presentation</dc:subject>
  <dc:creator>na-nim</dc:creator>
  <cp:lastModifiedBy>na-nim</cp:lastModifiedBy>
  <cp:revision>1</cp:revision>
  <dcterms:created xsi:type="dcterms:W3CDTF">2026-10-12T04:58:00Z</dcterms:created>
  <dcterms:modified xsi:type="dcterms:W3CDTF">2026-10-12T04:58:00Z</dcterms:modified>
</cp:coreProperties>
</file>