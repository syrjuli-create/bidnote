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소개" id="{5cd2b445-c9b9-182a-5277-ee4ef4618bb7}">
          <p14:sldIdLst>
            <p14:sldId id="256"/>
            <p14:sldId id="257"/>
          </p14:sldIdLst>
        </p14:section>
        <p14:section name="메뉴별 기능" id="{16d7826e-10a6-99d5-49fc-3084c2a8b6f6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정리" id="{9d6f3e84-c62c-9105-418a-d689a5e7db92}">
          <p14:sldIdLst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입찰정보 사이트 메뉴·기능 안내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입찰정보 사이트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메뉴·기능 안내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어떤 메뉴에서 무엇을 할 수 있는지 쉽게 정리했습니다 (개발계획서 v0.2 기준)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메뉴는 6개입니다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사이트 위쪽에 아래 6개 메뉴가 놓입니다. 다음 장부터 메뉴별로 하나씩 설명합니다.</a:t>
            </a:r>
            <a:endParaRPr lang="en-US" sz="1500" dirty="0"/>
          </a:p>
        </p:txBody>
      </p:sp>
      <p:sp>
        <p:nvSpPr>
          <p:cNvPr id="4" name="menu-card-1"/>
          <p:cNvSpPr/>
          <p:nvPr/>
        </p:nvSpPr>
        <p:spPr>
          <a:xfrm>
            <a:off x="548640" y="1737360"/>
            <a:ext cx="356616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/>
        </p:spPr>
      </p:sp>
      <p:sp>
        <p:nvSpPr>
          <p:cNvPr id="5" name="menu-badge-1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공고 찾기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43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공공기관 입찰 공고를 찾는 곳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337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기능 5개</a:t>
            </a:r>
            <a:endParaRPr lang="en-US" sz="1200" dirty="0"/>
          </a:p>
        </p:txBody>
      </p:sp>
      <p:sp>
        <p:nvSpPr>
          <p:cNvPr id="10" name="menu-card-2"/>
          <p:cNvSpPr/>
          <p:nvPr/>
        </p:nvSpPr>
        <p:spPr>
          <a:xfrm>
            <a:off x="4297680" y="1737360"/>
            <a:ext cx="356616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/>
        </p:spPr>
      </p:sp>
      <p:sp>
        <p:nvSpPr>
          <p:cNvPr id="11" name="menu-badge-2"/>
          <p:cNvSpPr/>
          <p:nvPr/>
        </p:nvSpPr>
        <p:spPr>
          <a:xfrm>
            <a:off x="4572000" y="201168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내 입찰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743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관심 공고와 내 참여 기록을 관리하는 곳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337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기능 5개</a:t>
            </a:r>
            <a:endParaRPr lang="en-US" sz="1200" dirty="0"/>
          </a:p>
        </p:txBody>
      </p:sp>
      <p:sp>
        <p:nvSpPr>
          <p:cNvPr id="16" name="menu-card-3"/>
          <p:cNvSpPr/>
          <p:nvPr/>
        </p:nvSpPr>
        <p:spPr>
          <a:xfrm>
            <a:off x="8046720" y="1737360"/>
            <a:ext cx="356616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/>
        </p:spPr>
      </p:sp>
      <p:sp>
        <p:nvSpPr>
          <p:cNvPr id="17" name="menu-badge-3"/>
          <p:cNvSpPr/>
          <p:nvPr/>
        </p:nvSpPr>
        <p:spPr>
          <a:xfrm>
            <a:off x="8321040" y="201168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210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05256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입찰 도구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743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투찰금액을 정할 때 쓰는 계산기와 참고표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3337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기능 4개</a:t>
            </a:r>
            <a:endParaRPr lang="en-US" sz="1200" dirty="0"/>
          </a:p>
        </p:txBody>
      </p:sp>
      <p:sp>
        <p:nvSpPr>
          <p:cNvPr id="22" name="menu-card-4"/>
          <p:cNvSpPr/>
          <p:nvPr/>
        </p:nvSpPr>
        <p:spPr>
          <a:xfrm>
            <a:off x="548640" y="3977640"/>
            <a:ext cx="356616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/>
        </p:spPr>
      </p:sp>
      <p:sp>
        <p:nvSpPr>
          <p:cNvPr id="23" name="menu-badge-4"/>
          <p:cNvSpPr/>
          <p:nvPr/>
        </p:nvSpPr>
        <p:spPr>
          <a:xfrm>
            <a:off x="822960" y="425196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554480" y="4251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알림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4983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사이트에 들어오지 않아도 먼저 알려 주는 기능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5577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기능 2개</a:t>
            </a:r>
            <a:endParaRPr lang="en-US" sz="1200" dirty="0"/>
          </a:p>
        </p:txBody>
      </p:sp>
      <p:sp>
        <p:nvSpPr>
          <p:cNvPr id="28" name="menu-card-5"/>
          <p:cNvSpPr/>
          <p:nvPr/>
        </p:nvSpPr>
        <p:spPr>
          <a:xfrm>
            <a:off x="4297680" y="3977640"/>
            <a:ext cx="356616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/>
        </p:spPr>
      </p:sp>
      <p:sp>
        <p:nvSpPr>
          <p:cNvPr id="29" name="menu-badge-5"/>
          <p:cNvSpPr/>
          <p:nvPr/>
        </p:nvSpPr>
        <p:spPr>
          <a:xfrm>
            <a:off x="4572000" y="425196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57200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5303520" y="4251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자료실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0" y="4983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공지와 입찰 참고 자료, 출력 기능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0" y="5577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기능 3개</a:t>
            </a:r>
            <a:endParaRPr lang="en-US" sz="1200" dirty="0"/>
          </a:p>
        </p:txBody>
      </p:sp>
      <p:sp>
        <p:nvSpPr>
          <p:cNvPr id="34" name="menu-card-6"/>
          <p:cNvSpPr/>
          <p:nvPr/>
        </p:nvSpPr>
        <p:spPr>
          <a:xfrm>
            <a:off x="8046720" y="3977640"/>
            <a:ext cx="356616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/>
        </p:spPr>
      </p:sp>
      <p:sp>
        <p:nvSpPr>
          <p:cNvPr id="35" name="menu-badge-6"/>
          <p:cNvSpPr/>
          <p:nvPr/>
        </p:nvSpPr>
        <p:spPr>
          <a:xfrm>
            <a:off x="8321040" y="425196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32104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9052560" y="4251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고객센터</a:t>
            </a:r>
            <a:endParaRPr lang="en-US" sz="2200" dirty="0"/>
          </a:p>
        </p:txBody>
      </p:sp>
      <p:sp>
        <p:nvSpPr>
          <p:cNvPr id="38" name="Text 36"/>
          <p:cNvSpPr txBox="1"/>
          <p:nvPr/>
        </p:nvSpPr>
        <p:spPr>
          <a:xfrm>
            <a:off x="8321040" y="4983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이용 중 도움을 받는 곳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8321040" y="5577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기능 3개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1. 공고 찾기</a:t>
            </a:r>
            <a:endParaRPr lang="en-US" sz="3000" dirty="0"/>
          </a:p>
        </p:txBody>
      </p:sp>
      <p:sp>
        <p:nvSpPr>
          <p:cNvPr id="3" name="menu-panel"/>
          <p:cNvSpPr/>
          <p:nvPr/>
        </p:nvSpPr>
        <p:spPr>
          <a:xfrm>
            <a:off x="548640" y="1325880"/>
            <a:ext cx="3291840" cy="4846320"/>
          </a:xfrm>
          <a:prstGeom prst="roundRect">
            <a:avLst>
              <a:gd name="adj" fmla="val 2222"/>
            </a:avLst>
          </a:prstGeom>
          <a:solidFill>
            <a:schemeClr val="tx2"/>
          </a:solidFill>
          <a:ln/>
        </p:spPr>
      </p:sp>
      <p:sp>
        <p:nvSpPr>
          <p:cNvPr id="4" name="menu-panel-badge"/>
          <p:cNvSpPr/>
          <p:nvPr/>
        </p:nvSpPr>
        <p:spPr>
          <a:xfrm>
            <a:off x="868680" y="164592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60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공고 찾기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004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공공기관 입찰 공고를 찾는 곳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389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이럴 때 써요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7091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오늘 올라온 우리 지역 공고를 보고 싶을 때</a:t>
            </a:r>
            <a:endParaRPr lang="en-US" sz="1500" dirty="0"/>
          </a:p>
        </p:txBody>
      </p:sp>
      <p:sp>
        <p:nvSpPr>
          <p:cNvPr id="10" name="feature-1"/>
          <p:cNvSpPr/>
          <p:nvPr/>
        </p:nvSpPr>
        <p:spPr>
          <a:xfrm>
            <a:off x="4114800" y="1325880"/>
            <a:ext cx="7498080" cy="881482"/>
          </a:xfrm>
          <a:prstGeom prst="roundRect">
            <a:avLst>
              <a:gd name="adj" fmla="val 8299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43400" y="1355141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진행 중인 공고</a:t>
            </a:r>
            <a:endParaRPr lang="en-US" sz="1600" dirty="0"/>
          </a:p>
        </p:txBody>
      </p:sp>
      <p:sp>
        <p:nvSpPr>
          <p:cNvPr id="12" name="chip-access-1"/>
          <p:cNvSpPr/>
          <p:nvPr/>
        </p:nvSpPr>
        <p:spPr>
          <a:xfrm>
            <a:off x="9692640" y="1373429"/>
            <a:ext cx="822960" cy="25603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92640" y="1373429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회원</a:t>
            </a:r>
            <a:endParaRPr lang="en-US" sz="1100" dirty="0"/>
          </a:p>
        </p:txBody>
      </p:sp>
      <p:sp>
        <p:nvSpPr>
          <p:cNvPr id="14" name="chip-phase-1"/>
          <p:cNvSpPr/>
          <p:nvPr/>
        </p:nvSpPr>
        <p:spPr>
          <a:xfrm>
            <a:off x="10607040" y="1373429"/>
            <a:ext cx="822960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607040" y="1373429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1차 출시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343400" y="1666037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참여할 수 있는 공고를 최신순으로 (공사부터, 용역·물품은 3차)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343400" y="1940357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예) 오늘 올라온 대전 지역 공사 공고</a:t>
            </a:r>
            <a:endParaRPr lang="en-US" sz="1200" dirty="0"/>
          </a:p>
        </p:txBody>
      </p:sp>
      <p:sp>
        <p:nvSpPr>
          <p:cNvPr id="18" name="feature-2"/>
          <p:cNvSpPr/>
          <p:nvPr/>
        </p:nvSpPr>
        <p:spPr>
          <a:xfrm>
            <a:off x="4114800" y="2317090"/>
            <a:ext cx="7498080" cy="881482"/>
          </a:xfrm>
          <a:prstGeom prst="roundRect">
            <a:avLst>
              <a:gd name="adj" fmla="val 8299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343400" y="234635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공고 검색</a:t>
            </a:r>
            <a:endParaRPr lang="en-US" sz="1600" dirty="0"/>
          </a:p>
        </p:txBody>
      </p:sp>
      <p:sp>
        <p:nvSpPr>
          <p:cNvPr id="20" name="chip-access-2"/>
          <p:cNvSpPr/>
          <p:nvPr/>
        </p:nvSpPr>
        <p:spPr>
          <a:xfrm>
            <a:off x="9692640" y="2364638"/>
            <a:ext cx="822960" cy="25603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92640" y="236463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회원</a:t>
            </a:r>
            <a:endParaRPr lang="en-US" sz="1100" dirty="0"/>
          </a:p>
        </p:txBody>
      </p:sp>
      <p:sp>
        <p:nvSpPr>
          <p:cNvPr id="22" name="chip-phase-2"/>
          <p:cNvSpPr/>
          <p:nvPr/>
        </p:nvSpPr>
        <p:spPr>
          <a:xfrm>
            <a:off x="10607040" y="2364638"/>
            <a:ext cx="822960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607040" y="236463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1차 출시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343400" y="265724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지역·면허·금액·발주기관·마감일로 골라 보기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343400" y="2931566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예) 충남 · 실내건축 · 1억~3억</a:t>
            </a:r>
            <a:endParaRPr lang="en-US" sz="1200" dirty="0"/>
          </a:p>
        </p:txBody>
      </p:sp>
      <p:sp>
        <p:nvSpPr>
          <p:cNvPr id="26" name="feature-3"/>
          <p:cNvSpPr/>
          <p:nvPr/>
        </p:nvSpPr>
        <p:spPr>
          <a:xfrm>
            <a:off x="4114800" y="3308299"/>
            <a:ext cx="7498080" cy="881482"/>
          </a:xfrm>
          <a:prstGeom prst="roundRect">
            <a:avLst>
              <a:gd name="adj" fmla="val 8299"/>
            </a:avLst>
          </a:prstGeom>
          <a:solidFill>
            <a:schemeClr val="bg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343400" y="33375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공고 상세</a:t>
            </a:r>
            <a:endParaRPr lang="en-US" sz="1600" dirty="0"/>
          </a:p>
        </p:txBody>
      </p:sp>
      <p:sp>
        <p:nvSpPr>
          <p:cNvPr id="28" name="chip-access-3"/>
          <p:cNvSpPr/>
          <p:nvPr/>
        </p:nvSpPr>
        <p:spPr>
          <a:xfrm>
            <a:off x="9692640" y="3355848"/>
            <a:ext cx="822960" cy="25603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692640" y="33558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회원</a:t>
            </a:r>
            <a:endParaRPr lang="en-US" sz="1100" dirty="0"/>
          </a:p>
        </p:txBody>
      </p:sp>
      <p:sp>
        <p:nvSpPr>
          <p:cNvPr id="30" name="chip-phase-3"/>
          <p:cNvSpPr/>
          <p:nvPr/>
        </p:nvSpPr>
        <p:spPr>
          <a:xfrm>
            <a:off x="10607040" y="3355848"/>
            <a:ext cx="822960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607040" y="33558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1차 출시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343400" y="364845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기초금액·참가 자격·마감 일시·정정 이력을 한 화면에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343400" y="3922776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예) 마감일이 바뀐 정정 공고 확인</a:t>
            </a:r>
            <a:endParaRPr lang="en-US" sz="1200" dirty="0"/>
          </a:p>
        </p:txBody>
      </p:sp>
      <p:sp>
        <p:nvSpPr>
          <p:cNvPr id="34" name="feature-4"/>
          <p:cNvSpPr/>
          <p:nvPr/>
        </p:nvSpPr>
        <p:spPr>
          <a:xfrm>
            <a:off x="4114800" y="4299509"/>
            <a:ext cx="7498080" cy="881482"/>
          </a:xfrm>
          <a:prstGeom prst="roundRect">
            <a:avLst>
              <a:gd name="adj" fmla="val 8299"/>
            </a:avLst>
          </a:prstGeom>
          <a:solidFill>
            <a:schemeClr val="bg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343400" y="432877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개찰 결과</a:t>
            </a:r>
            <a:endParaRPr lang="en-US" sz="1600" dirty="0"/>
          </a:p>
        </p:txBody>
      </p:sp>
      <p:sp>
        <p:nvSpPr>
          <p:cNvPr id="36" name="chip-access-4"/>
          <p:cNvSpPr/>
          <p:nvPr/>
        </p:nvSpPr>
        <p:spPr>
          <a:xfrm>
            <a:off x="9692640" y="4347058"/>
            <a:ext cx="822960" cy="25603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692640" y="434705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회원</a:t>
            </a:r>
            <a:endParaRPr lang="en-US" sz="1100" dirty="0"/>
          </a:p>
        </p:txBody>
      </p:sp>
      <p:sp>
        <p:nvSpPr>
          <p:cNvPr id="38" name="chip-phase-4"/>
          <p:cNvSpPr/>
          <p:nvPr/>
        </p:nvSpPr>
        <p:spPr>
          <a:xfrm>
            <a:off x="10607040" y="4347058"/>
            <a:ext cx="82296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10607040" y="434705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2차 출시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4343400" y="463966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누가 몇 등, 얼마에 써냈는지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4343400" y="4913986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예) 1순위 업체와 투찰률 87.745%</a:t>
            </a:r>
            <a:endParaRPr lang="en-US" sz="1200" dirty="0"/>
          </a:p>
        </p:txBody>
      </p:sp>
      <p:sp>
        <p:nvSpPr>
          <p:cNvPr id="42" name="feature-5"/>
          <p:cNvSpPr/>
          <p:nvPr/>
        </p:nvSpPr>
        <p:spPr>
          <a:xfrm>
            <a:off x="4114800" y="5290718"/>
            <a:ext cx="7498080" cy="881482"/>
          </a:xfrm>
          <a:prstGeom prst="roundRect">
            <a:avLst>
              <a:gd name="adj" fmla="val 8299"/>
            </a:avLst>
          </a:prstGeom>
          <a:solidFill>
            <a:schemeClr val="bg2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4343400" y="5319979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검색 조건 저장</a:t>
            </a:r>
            <a:endParaRPr lang="en-US" sz="1600" dirty="0"/>
          </a:p>
        </p:txBody>
      </p:sp>
      <p:sp>
        <p:nvSpPr>
          <p:cNvPr id="44" name="chip-access-5"/>
          <p:cNvSpPr/>
          <p:nvPr/>
        </p:nvSpPr>
        <p:spPr>
          <a:xfrm>
            <a:off x="9692640" y="5338267"/>
            <a:ext cx="822960" cy="25603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692640" y="5338267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회원</a:t>
            </a:r>
            <a:endParaRPr lang="en-US" sz="1100" dirty="0"/>
          </a:p>
        </p:txBody>
      </p:sp>
      <p:sp>
        <p:nvSpPr>
          <p:cNvPr id="46" name="chip-phase-5"/>
          <p:cNvSpPr/>
          <p:nvPr/>
        </p:nvSpPr>
        <p:spPr>
          <a:xfrm>
            <a:off x="10607040" y="5338267"/>
            <a:ext cx="82296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10607040" y="5338267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2차 출시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4343400" y="5630875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자주 보는 조건을 저장해 한 번에 다시 검색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4343400" y="5905195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예) '우리 회사 조건' 버튼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2. 내 입찰</a:t>
            </a:r>
            <a:endParaRPr lang="en-US" sz="3000" dirty="0"/>
          </a:p>
        </p:txBody>
      </p:sp>
      <p:sp>
        <p:nvSpPr>
          <p:cNvPr id="3" name="menu-panel"/>
          <p:cNvSpPr/>
          <p:nvPr/>
        </p:nvSpPr>
        <p:spPr>
          <a:xfrm>
            <a:off x="548640" y="1325880"/>
            <a:ext cx="3291840" cy="4846320"/>
          </a:xfrm>
          <a:prstGeom prst="roundRect">
            <a:avLst>
              <a:gd name="adj" fmla="val 2222"/>
            </a:avLst>
          </a:prstGeom>
          <a:solidFill>
            <a:schemeClr val="tx2"/>
          </a:solidFill>
          <a:ln/>
        </p:spPr>
      </p:sp>
      <p:sp>
        <p:nvSpPr>
          <p:cNvPr id="4" name="menu-panel-badge"/>
          <p:cNvSpPr/>
          <p:nvPr/>
        </p:nvSpPr>
        <p:spPr>
          <a:xfrm>
            <a:off x="868680" y="164592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60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내 입찰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004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관심 공고와 내 참여 기록을 관리하는 곳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389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이럴 때 써요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7091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투찰할 공고를 모아 두고 결과를 비교할 때</a:t>
            </a:r>
            <a:endParaRPr lang="en-US" sz="1500" dirty="0"/>
          </a:p>
        </p:txBody>
      </p:sp>
      <p:sp>
        <p:nvSpPr>
          <p:cNvPr id="10" name="feature-1"/>
          <p:cNvSpPr/>
          <p:nvPr/>
        </p:nvSpPr>
        <p:spPr>
          <a:xfrm>
            <a:off x="4114800" y="1325880"/>
            <a:ext cx="7498080" cy="881482"/>
          </a:xfrm>
          <a:prstGeom prst="roundRect">
            <a:avLst>
              <a:gd name="adj" fmla="val 8299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43400" y="1355141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관심 공고</a:t>
            </a:r>
            <a:endParaRPr lang="en-US" sz="1600" dirty="0"/>
          </a:p>
        </p:txBody>
      </p:sp>
      <p:sp>
        <p:nvSpPr>
          <p:cNvPr id="12" name="chip-access-1"/>
          <p:cNvSpPr/>
          <p:nvPr/>
        </p:nvSpPr>
        <p:spPr>
          <a:xfrm>
            <a:off x="9692640" y="1373429"/>
            <a:ext cx="822960" cy="25603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92640" y="1373429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회원</a:t>
            </a:r>
            <a:endParaRPr lang="en-US" sz="1100" dirty="0"/>
          </a:p>
        </p:txBody>
      </p:sp>
      <p:sp>
        <p:nvSpPr>
          <p:cNvPr id="14" name="chip-phase-1"/>
          <p:cNvSpPr/>
          <p:nvPr/>
        </p:nvSpPr>
        <p:spPr>
          <a:xfrm>
            <a:off x="10607040" y="1373429"/>
            <a:ext cx="822960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607040" y="1373429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1차 출시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343400" y="1666037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공고를 담아 두고 메모 남기기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343400" y="1940357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예) 이번 주 투찰할 공고 모아 두기</a:t>
            </a:r>
            <a:endParaRPr lang="en-US" sz="1200" dirty="0"/>
          </a:p>
        </p:txBody>
      </p:sp>
      <p:sp>
        <p:nvSpPr>
          <p:cNvPr id="18" name="feature-2"/>
          <p:cNvSpPr/>
          <p:nvPr/>
        </p:nvSpPr>
        <p:spPr>
          <a:xfrm>
            <a:off x="4114800" y="2317090"/>
            <a:ext cx="7498080" cy="881482"/>
          </a:xfrm>
          <a:prstGeom prst="roundRect">
            <a:avLst>
              <a:gd name="adj" fmla="val 8299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343400" y="234635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폴더·휴지통</a:t>
            </a:r>
            <a:endParaRPr lang="en-US" sz="1600" dirty="0"/>
          </a:p>
        </p:txBody>
      </p:sp>
      <p:sp>
        <p:nvSpPr>
          <p:cNvPr id="20" name="chip-access-2"/>
          <p:cNvSpPr/>
          <p:nvPr/>
        </p:nvSpPr>
        <p:spPr>
          <a:xfrm>
            <a:off x="9692640" y="2364638"/>
            <a:ext cx="822960" cy="25603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92640" y="236463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회원</a:t>
            </a:r>
            <a:endParaRPr lang="en-US" sz="1100" dirty="0"/>
          </a:p>
        </p:txBody>
      </p:sp>
      <p:sp>
        <p:nvSpPr>
          <p:cNvPr id="22" name="chip-phase-2"/>
          <p:cNvSpPr/>
          <p:nvPr/>
        </p:nvSpPr>
        <p:spPr>
          <a:xfrm>
            <a:off x="10607040" y="2364638"/>
            <a:ext cx="82296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607040" y="236463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2차 출시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343400" y="265724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담은 공고를 폴더로 나누고, 지운 공고는 되살리기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343400" y="2931566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예) '검토 중', '투찰 완료' 폴더</a:t>
            </a:r>
            <a:endParaRPr lang="en-US" sz="1200" dirty="0"/>
          </a:p>
        </p:txBody>
      </p:sp>
      <p:sp>
        <p:nvSpPr>
          <p:cNvPr id="26" name="feature-3"/>
          <p:cNvSpPr/>
          <p:nvPr/>
        </p:nvSpPr>
        <p:spPr>
          <a:xfrm>
            <a:off x="4114800" y="3308299"/>
            <a:ext cx="7498080" cy="881482"/>
          </a:xfrm>
          <a:prstGeom prst="roundRect">
            <a:avLst>
              <a:gd name="adj" fmla="val 8299"/>
            </a:avLst>
          </a:prstGeom>
          <a:solidFill>
            <a:schemeClr val="bg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343400" y="33375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내 투찰 기록</a:t>
            </a:r>
            <a:endParaRPr lang="en-US" sz="1600" dirty="0"/>
          </a:p>
        </p:txBody>
      </p:sp>
      <p:sp>
        <p:nvSpPr>
          <p:cNvPr id="28" name="chip-access-3"/>
          <p:cNvSpPr/>
          <p:nvPr/>
        </p:nvSpPr>
        <p:spPr>
          <a:xfrm>
            <a:off x="9692640" y="3355848"/>
            <a:ext cx="822960" cy="25603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692640" y="33558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회원</a:t>
            </a:r>
            <a:endParaRPr lang="en-US" sz="1100" dirty="0"/>
          </a:p>
        </p:txBody>
      </p:sp>
      <p:sp>
        <p:nvSpPr>
          <p:cNvPr id="30" name="chip-phase-3"/>
          <p:cNvSpPr/>
          <p:nvPr/>
        </p:nvSpPr>
        <p:spPr>
          <a:xfrm>
            <a:off x="10607040" y="3355848"/>
            <a:ext cx="822960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6B778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607040" y="33558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3차 출시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343400" y="364845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내가 쓴 금액을 기록, 개찰 후 순위와 1등과의 차이 표시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343400" y="3922776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예) 1등과 0.12% 차이로 3순위</a:t>
            </a:r>
            <a:endParaRPr lang="en-US" sz="1200" dirty="0"/>
          </a:p>
        </p:txBody>
      </p:sp>
      <p:sp>
        <p:nvSpPr>
          <p:cNvPr id="34" name="feature-4"/>
          <p:cNvSpPr/>
          <p:nvPr/>
        </p:nvSpPr>
        <p:spPr>
          <a:xfrm>
            <a:off x="4114800" y="4299509"/>
            <a:ext cx="7498080" cy="881482"/>
          </a:xfrm>
          <a:prstGeom prst="roundRect">
            <a:avLst>
              <a:gd name="adj" fmla="val 8299"/>
            </a:avLst>
          </a:prstGeom>
          <a:solidFill>
            <a:schemeClr val="bg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343400" y="432877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경쟁사 투찰 성향</a:t>
            </a:r>
            <a:endParaRPr lang="en-US" sz="1600" dirty="0"/>
          </a:p>
        </p:txBody>
      </p:sp>
      <p:sp>
        <p:nvSpPr>
          <p:cNvPr id="36" name="chip-access-4"/>
          <p:cNvSpPr/>
          <p:nvPr/>
        </p:nvSpPr>
        <p:spPr>
          <a:xfrm>
            <a:off x="9692640" y="4347058"/>
            <a:ext cx="822960" cy="25603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692640" y="434705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회원</a:t>
            </a:r>
            <a:endParaRPr lang="en-US" sz="1100" dirty="0"/>
          </a:p>
        </p:txBody>
      </p:sp>
      <p:sp>
        <p:nvSpPr>
          <p:cNvPr id="38" name="chip-phase-4"/>
          <p:cNvSpPr/>
          <p:nvPr/>
        </p:nvSpPr>
        <p:spPr>
          <a:xfrm>
            <a:off x="10607040" y="4347058"/>
            <a:ext cx="822960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6B778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607040" y="434705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3차 출시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4343400" y="463966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자주 만나는 업체가 보통 몇 %로 써내는지 그래프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4343400" y="4913986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예) A업체는 주로 99.8~100.2%</a:t>
            </a:r>
            <a:endParaRPr lang="en-US" sz="1200" dirty="0"/>
          </a:p>
        </p:txBody>
      </p:sp>
      <p:sp>
        <p:nvSpPr>
          <p:cNvPr id="42" name="feature-5"/>
          <p:cNvSpPr/>
          <p:nvPr/>
        </p:nvSpPr>
        <p:spPr>
          <a:xfrm>
            <a:off x="4114800" y="5290718"/>
            <a:ext cx="7498080" cy="881482"/>
          </a:xfrm>
          <a:prstGeom prst="roundRect">
            <a:avLst>
              <a:gd name="adj" fmla="val 8299"/>
            </a:avLst>
          </a:prstGeom>
          <a:solidFill>
            <a:schemeClr val="bg2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4343400" y="5319979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입찰 가능 금액 조회</a:t>
            </a:r>
            <a:endParaRPr lang="en-US" sz="1600" dirty="0"/>
          </a:p>
        </p:txBody>
      </p:sp>
      <p:sp>
        <p:nvSpPr>
          <p:cNvPr id="44" name="chip-access-5"/>
          <p:cNvSpPr/>
          <p:nvPr/>
        </p:nvSpPr>
        <p:spPr>
          <a:xfrm>
            <a:off x="9692640" y="5338267"/>
            <a:ext cx="822960" cy="25603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692640" y="5338267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회원</a:t>
            </a:r>
            <a:endParaRPr lang="en-US" sz="1100" dirty="0"/>
          </a:p>
        </p:txBody>
      </p:sp>
      <p:sp>
        <p:nvSpPr>
          <p:cNvPr id="46" name="chip-phase-5"/>
          <p:cNvSpPr/>
          <p:nvPr/>
        </p:nvSpPr>
        <p:spPr>
          <a:xfrm>
            <a:off x="10607040" y="5338267"/>
            <a:ext cx="822960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6B7785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0607040" y="5338267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3차 출시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4343400" y="5630875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우리 회사 실적·면허로 참여 가능한 금액대 계산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4343400" y="5905195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예) 토목 면허로 30억 이하 가능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3. 입찰 도구</a:t>
            </a:r>
            <a:endParaRPr lang="en-US" sz="3000" dirty="0"/>
          </a:p>
        </p:txBody>
      </p:sp>
      <p:sp>
        <p:nvSpPr>
          <p:cNvPr id="3" name="menu-panel"/>
          <p:cNvSpPr/>
          <p:nvPr/>
        </p:nvSpPr>
        <p:spPr>
          <a:xfrm>
            <a:off x="548640" y="1325880"/>
            <a:ext cx="3291840" cy="4846320"/>
          </a:xfrm>
          <a:prstGeom prst="roundRect">
            <a:avLst>
              <a:gd name="adj" fmla="val 2222"/>
            </a:avLst>
          </a:prstGeom>
          <a:solidFill>
            <a:schemeClr val="tx2"/>
          </a:solidFill>
          <a:ln/>
        </p:spPr>
      </p:sp>
      <p:sp>
        <p:nvSpPr>
          <p:cNvPr id="4" name="menu-panel-badge"/>
          <p:cNvSpPr/>
          <p:nvPr/>
        </p:nvSpPr>
        <p:spPr>
          <a:xfrm>
            <a:off x="868680" y="164592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60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입찰 도구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004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투찰금액을 정할 때 쓰는 계산기와 참고표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389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이럴 때 써요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7091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얼마를 써낼지 계산할 때</a:t>
            </a:r>
            <a:endParaRPr lang="en-US" sz="1500" dirty="0"/>
          </a:p>
        </p:txBody>
      </p:sp>
      <p:sp>
        <p:nvSpPr>
          <p:cNvPr id="10" name="feature-1"/>
          <p:cNvSpPr/>
          <p:nvPr/>
        </p:nvSpPr>
        <p:spPr>
          <a:xfrm>
            <a:off x="4114800" y="1325880"/>
            <a:ext cx="7498080" cy="1129284"/>
          </a:xfrm>
          <a:prstGeom prst="roundRect">
            <a:avLst>
              <a:gd name="adj" fmla="val 6478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43400" y="147904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투찰금액 계산기</a:t>
            </a:r>
            <a:endParaRPr lang="en-US" sz="1600" dirty="0"/>
          </a:p>
        </p:txBody>
      </p:sp>
      <p:sp>
        <p:nvSpPr>
          <p:cNvPr id="12" name="chip-access-1"/>
          <p:cNvSpPr/>
          <p:nvPr/>
        </p:nvSpPr>
        <p:spPr>
          <a:xfrm>
            <a:off x="9692640" y="1497330"/>
            <a:ext cx="822960" cy="25603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92640" y="149733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누구나</a:t>
            </a:r>
            <a:endParaRPr lang="en-US" sz="1100" dirty="0"/>
          </a:p>
        </p:txBody>
      </p:sp>
      <p:sp>
        <p:nvSpPr>
          <p:cNvPr id="14" name="chip-phase-1"/>
          <p:cNvSpPr/>
          <p:nvPr/>
        </p:nvSpPr>
        <p:spPr>
          <a:xfrm>
            <a:off x="10607040" y="1497330"/>
            <a:ext cx="822960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607040" y="149733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1차 출시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343400" y="178993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기초금액·사정률·낙찰하한율로 투찰금액 계산 (A값·순공사원가 포함)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343400" y="2064258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예) 기초금액 2억 6,618만 원 → 2억 3,493만 원</a:t>
            </a:r>
            <a:endParaRPr lang="en-US" sz="1200" dirty="0"/>
          </a:p>
        </p:txBody>
      </p:sp>
      <p:sp>
        <p:nvSpPr>
          <p:cNvPr id="18" name="feature-2"/>
          <p:cNvSpPr/>
          <p:nvPr/>
        </p:nvSpPr>
        <p:spPr>
          <a:xfrm>
            <a:off x="4114800" y="2564892"/>
            <a:ext cx="7498080" cy="1129284"/>
          </a:xfrm>
          <a:prstGeom prst="roundRect">
            <a:avLst>
              <a:gd name="adj" fmla="val 6478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343400" y="271805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투찰률·실적배수 표</a:t>
            </a:r>
            <a:endParaRPr lang="en-US" sz="1600" dirty="0"/>
          </a:p>
        </p:txBody>
      </p:sp>
      <p:sp>
        <p:nvSpPr>
          <p:cNvPr id="20" name="chip-access-2"/>
          <p:cNvSpPr/>
          <p:nvPr/>
        </p:nvSpPr>
        <p:spPr>
          <a:xfrm>
            <a:off x="9692640" y="2736342"/>
            <a:ext cx="822960" cy="25603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92640" y="273634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누구나</a:t>
            </a:r>
            <a:endParaRPr lang="en-US" sz="1100" dirty="0"/>
          </a:p>
        </p:txBody>
      </p:sp>
      <p:sp>
        <p:nvSpPr>
          <p:cNvPr id="22" name="chip-phase-2"/>
          <p:cNvSpPr/>
          <p:nvPr/>
        </p:nvSpPr>
        <p:spPr>
          <a:xfrm>
            <a:off x="10607040" y="2736342"/>
            <a:ext cx="82296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607040" y="273634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2차 출시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343400" y="302895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발주처·금액대별 투찰률과 실적 기준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343400" y="3303270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예) 조달청 10억~50억 공사 88.745%</a:t>
            </a:r>
            <a:endParaRPr lang="en-US" sz="1200" dirty="0"/>
          </a:p>
        </p:txBody>
      </p:sp>
      <p:sp>
        <p:nvSpPr>
          <p:cNvPr id="26" name="feature-3"/>
          <p:cNvSpPr/>
          <p:nvPr/>
        </p:nvSpPr>
        <p:spPr>
          <a:xfrm>
            <a:off x="4114800" y="3803904"/>
            <a:ext cx="7498080" cy="1129284"/>
          </a:xfrm>
          <a:prstGeom prst="roundRect">
            <a:avLst>
              <a:gd name="adj" fmla="val 6478"/>
            </a:avLst>
          </a:prstGeom>
          <a:solidFill>
            <a:schemeClr val="bg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343400" y="395706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업종별 평균 경영비율</a:t>
            </a:r>
            <a:endParaRPr lang="en-US" sz="1600" dirty="0"/>
          </a:p>
        </p:txBody>
      </p:sp>
      <p:sp>
        <p:nvSpPr>
          <p:cNvPr id="28" name="chip-access-3"/>
          <p:cNvSpPr/>
          <p:nvPr/>
        </p:nvSpPr>
        <p:spPr>
          <a:xfrm>
            <a:off x="9692640" y="3975354"/>
            <a:ext cx="822960" cy="25603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692640" y="397535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누구나</a:t>
            </a:r>
            <a:endParaRPr lang="en-US" sz="1100" dirty="0"/>
          </a:p>
        </p:txBody>
      </p:sp>
      <p:sp>
        <p:nvSpPr>
          <p:cNvPr id="30" name="chip-phase-3"/>
          <p:cNvSpPr/>
          <p:nvPr/>
        </p:nvSpPr>
        <p:spPr>
          <a:xfrm>
            <a:off x="10607040" y="3975354"/>
            <a:ext cx="82296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607040" y="397535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2차 출시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343400" y="4267962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적격심사에 쓰는 업종 평균 부채비율·유동비율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343400" y="4542282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예) 일반건설 부채비율 104.94%</a:t>
            </a:r>
            <a:endParaRPr lang="en-US" sz="1200" dirty="0"/>
          </a:p>
        </p:txBody>
      </p:sp>
      <p:sp>
        <p:nvSpPr>
          <p:cNvPr id="34" name="feature-4"/>
          <p:cNvSpPr/>
          <p:nvPr/>
        </p:nvSpPr>
        <p:spPr>
          <a:xfrm>
            <a:off x="4114800" y="5042916"/>
            <a:ext cx="7498080" cy="1129284"/>
          </a:xfrm>
          <a:prstGeom prst="roundRect">
            <a:avLst>
              <a:gd name="adj" fmla="val 6478"/>
            </a:avLst>
          </a:prstGeom>
          <a:solidFill>
            <a:schemeClr val="bg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343400" y="519607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적격심사 예상 점수</a:t>
            </a:r>
            <a:endParaRPr lang="en-US" sz="1600" dirty="0"/>
          </a:p>
        </p:txBody>
      </p:sp>
      <p:sp>
        <p:nvSpPr>
          <p:cNvPr id="36" name="chip-access-4"/>
          <p:cNvSpPr/>
          <p:nvPr/>
        </p:nvSpPr>
        <p:spPr>
          <a:xfrm>
            <a:off x="9692640" y="5214366"/>
            <a:ext cx="822960" cy="25603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692640" y="521436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회원</a:t>
            </a:r>
            <a:endParaRPr lang="en-US" sz="1100" dirty="0"/>
          </a:p>
        </p:txBody>
      </p:sp>
      <p:sp>
        <p:nvSpPr>
          <p:cNvPr id="38" name="chip-phase-4"/>
          <p:cNvSpPr/>
          <p:nvPr/>
        </p:nvSpPr>
        <p:spPr>
          <a:xfrm>
            <a:off x="10607040" y="5214366"/>
            <a:ext cx="822960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6B778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607040" y="521436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3차 출시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4343400" y="550697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우리 회사 정보로 심사 점수를 미리 계산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4343400" y="5781294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예) 경영상태 14.2점 / 15점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4. 알림</a:t>
            </a:r>
            <a:endParaRPr lang="en-US" sz="3000" dirty="0"/>
          </a:p>
        </p:txBody>
      </p:sp>
      <p:sp>
        <p:nvSpPr>
          <p:cNvPr id="3" name="menu-panel"/>
          <p:cNvSpPr/>
          <p:nvPr/>
        </p:nvSpPr>
        <p:spPr>
          <a:xfrm>
            <a:off x="548640" y="1325880"/>
            <a:ext cx="3291840" cy="4846320"/>
          </a:xfrm>
          <a:prstGeom prst="roundRect">
            <a:avLst>
              <a:gd name="adj" fmla="val 2222"/>
            </a:avLst>
          </a:prstGeom>
          <a:solidFill>
            <a:schemeClr val="tx2"/>
          </a:solidFill>
          <a:ln/>
        </p:spPr>
      </p:sp>
      <p:sp>
        <p:nvSpPr>
          <p:cNvPr id="4" name="menu-panel-badge"/>
          <p:cNvSpPr/>
          <p:nvPr/>
        </p:nvSpPr>
        <p:spPr>
          <a:xfrm>
            <a:off x="868680" y="164592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60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알림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004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사이트에 들어오지 않아도 먼저 알려 주는 기능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389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이럴 때 써요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7091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공고나 마감을 놓치고 싶지 않을 때</a:t>
            </a:r>
            <a:endParaRPr lang="en-US" sz="1500" dirty="0"/>
          </a:p>
        </p:txBody>
      </p:sp>
      <p:sp>
        <p:nvSpPr>
          <p:cNvPr id="10" name="feature-1"/>
          <p:cNvSpPr/>
          <p:nvPr/>
        </p:nvSpPr>
        <p:spPr>
          <a:xfrm>
            <a:off x="4114800" y="1325880"/>
            <a:ext cx="749808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43400" y="14859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새 공고 알림</a:t>
            </a:r>
            <a:endParaRPr lang="en-US" sz="1600" dirty="0"/>
          </a:p>
        </p:txBody>
      </p:sp>
      <p:sp>
        <p:nvSpPr>
          <p:cNvPr id="12" name="chip-access-1"/>
          <p:cNvSpPr/>
          <p:nvPr/>
        </p:nvSpPr>
        <p:spPr>
          <a:xfrm>
            <a:off x="9692640" y="1504188"/>
            <a:ext cx="822960" cy="25603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92640" y="15041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회원</a:t>
            </a:r>
            <a:endParaRPr lang="en-US" sz="1100" dirty="0"/>
          </a:p>
        </p:txBody>
      </p:sp>
      <p:sp>
        <p:nvSpPr>
          <p:cNvPr id="14" name="chip-phase-1"/>
          <p:cNvSpPr/>
          <p:nvPr/>
        </p:nvSpPr>
        <p:spPr>
          <a:xfrm>
            <a:off x="10607040" y="1504188"/>
            <a:ext cx="82296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607040" y="15041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2차 출시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343400" y="179679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저장한 조건에 맞는 새 공고를 매일 아침 모아서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343400" y="2071116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예) 오전 8시 '새 공고 5건'</a:t>
            </a:r>
            <a:endParaRPr lang="en-US" sz="1200" dirty="0"/>
          </a:p>
        </p:txBody>
      </p:sp>
      <p:sp>
        <p:nvSpPr>
          <p:cNvPr id="18" name="feature-2"/>
          <p:cNvSpPr/>
          <p:nvPr/>
        </p:nvSpPr>
        <p:spPr>
          <a:xfrm>
            <a:off x="4114800" y="2578608"/>
            <a:ext cx="749808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343400" y="27386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마감·개찰 알림</a:t>
            </a:r>
            <a:endParaRPr lang="en-US" sz="1600" dirty="0"/>
          </a:p>
        </p:txBody>
      </p:sp>
      <p:sp>
        <p:nvSpPr>
          <p:cNvPr id="20" name="chip-access-2"/>
          <p:cNvSpPr/>
          <p:nvPr/>
        </p:nvSpPr>
        <p:spPr>
          <a:xfrm>
            <a:off x="9692640" y="2756916"/>
            <a:ext cx="822960" cy="25603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92640" y="27569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회원</a:t>
            </a:r>
            <a:endParaRPr lang="en-US" sz="1100" dirty="0"/>
          </a:p>
        </p:txBody>
      </p:sp>
      <p:sp>
        <p:nvSpPr>
          <p:cNvPr id="22" name="chip-phase-2"/>
          <p:cNvSpPr/>
          <p:nvPr/>
        </p:nvSpPr>
        <p:spPr>
          <a:xfrm>
            <a:off x="10607040" y="2756916"/>
            <a:ext cx="82296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607040" y="27569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2차 출시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343400" y="304952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관심 공고 마감 전날, 개찰 결과가 나오면 바로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343400" y="3323844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예) '○○초교 보수공사 내일 10시 마감'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5. 자료실</a:t>
            </a:r>
            <a:endParaRPr lang="en-US" sz="3000" dirty="0"/>
          </a:p>
        </p:txBody>
      </p:sp>
      <p:sp>
        <p:nvSpPr>
          <p:cNvPr id="3" name="menu-panel"/>
          <p:cNvSpPr/>
          <p:nvPr/>
        </p:nvSpPr>
        <p:spPr>
          <a:xfrm>
            <a:off x="548640" y="1325880"/>
            <a:ext cx="3291840" cy="4846320"/>
          </a:xfrm>
          <a:prstGeom prst="roundRect">
            <a:avLst>
              <a:gd name="adj" fmla="val 2222"/>
            </a:avLst>
          </a:prstGeom>
          <a:solidFill>
            <a:schemeClr val="tx2"/>
          </a:solidFill>
          <a:ln/>
        </p:spPr>
      </p:sp>
      <p:sp>
        <p:nvSpPr>
          <p:cNvPr id="4" name="menu-panel-badge"/>
          <p:cNvSpPr/>
          <p:nvPr/>
        </p:nvSpPr>
        <p:spPr>
          <a:xfrm>
            <a:off x="868680" y="164592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5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60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자료실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004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공지와 입찰 참고 자료, 출력 기능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389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이럴 때 써요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7091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제도 변경 소식이나 심사 기준을 찾을 때</a:t>
            </a:r>
            <a:endParaRPr lang="en-US" sz="1500" dirty="0"/>
          </a:p>
        </p:txBody>
      </p:sp>
      <p:sp>
        <p:nvSpPr>
          <p:cNvPr id="10" name="feature-1"/>
          <p:cNvSpPr/>
          <p:nvPr/>
        </p:nvSpPr>
        <p:spPr>
          <a:xfrm>
            <a:off x="4114800" y="1325880"/>
            <a:ext cx="749808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43400" y="14859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공지·발주처 소식</a:t>
            </a:r>
            <a:endParaRPr lang="en-US" sz="1600" dirty="0"/>
          </a:p>
        </p:txBody>
      </p:sp>
      <p:sp>
        <p:nvSpPr>
          <p:cNvPr id="12" name="chip-access-1"/>
          <p:cNvSpPr/>
          <p:nvPr/>
        </p:nvSpPr>
        <p:spPr>
          <a:xfrm>
            <a:off x="9692640" y="1504188"/>
            <a:ext cx="822960" cy="25603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92640" y="15041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누구나</a:t>
            </a:r>
            <a:endParaRPr lang="en-US" sz="1100" dirty="0"/>
          </a:p>
        </p:txBody>
      </p:sp>
      <p:sp>
        <p:nvSpPr>
          <p:cNvPr id="14" name="chip-phase-1"/>
          <p:cNvSpPr/>
          <p:nvPr/>
        </p:nvSpPr>
        <p:spPr>
          <a:xfrm>
            <a:off x="10607040" y="1504188"/>
            <a:ext cx="82296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607040" y="15041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2차 출시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343400" y="179679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사이트 공지와 발주기관 제도 변경 소식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343400" y="2071116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예) '낙찰하한율 개정 안내'</a:t>
            </a:r>
            <a:endParaRPr lang="en-US" sz="1200" dirty="0"/>
          </a:p>
        </p:txBody>
      </p:sp>
      <p:sp>
        <p:nvSpPr>
          <p:cNvPr id="18" name="feature-2"/>
          <p:cNvSpPr/>
          <p:nvPr/>
        </p:nvSpPr>
        <p:spPr>
          <a:xfrm>
            <a:off x="4114800" y="2578608"/>
            <a:ext cx="749808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343400" y="27386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발주처별 적격심사 기준</a:t>
            </a:r>
            <a:endParaRPr lang="en-US" sz="1600" dirty="0"/>
          </a:p>
        </p:txBody>
      </p:sp>
      <p:sp>
        <p:nvSpPr>
          <p:cNvPr id="20" name="chip-access-2"/>
          <p:cNvSpPr/>
          <p:nvPr/>
        </p:nvSpPr>
        <p:spPr>
          <a:xfrm>
            <a:off x="9692640" y="2756916"/>
            <a:ext cx="822960" cy="25603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92640" y="27569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회원</a:t>
            </a:r>
            <a:endParaRPr lang="en-US" sz="1100" dirty="0"/>
          </a:p>
        </p:txBody>
      </p:sp>
      <p:sp>
        <p:nvSpPr>
          <p:cNvPr id="22" name="chip-phase-2"/>
          <p:cNvSpPr/>
          <p:nvPr/>
        </p:nvSpPr>
        <p:spPr>
          <a:xfrm>
            <a:off x="10607040" y="2756916"/>
            <a:ext cx="82296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607040" y="27569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2차 출시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343400" y="304952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기관마다 다른 심사 기준표 모음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343400" y="3323844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예) LH 시설공사 세부기준</a:t>
            </a:r>
            <a:endParaRPr lang="en-US" sz="1200" dirty="0"/>
          </a:p>
        </p:txBody>
      </p:sp>
      <p:sp>
        <p:nvSpPr>
          <p:cNvPr id="26" name="feature-3"/>
          <p:cNvSpPr/>
          <p:nvPr/>
        </p:nvSpPr>
        <p:spPr>
          <a:xfrm>
            <a:off x="4114800" y="3831336"/>
            <a:ext cx="749808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343400" y="39913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출력·엑셀 저장</a:t>
            </a:r>
            <a:endParaRPr lang="en-US" sz="1600" dirty="0"/>
          </a:p>
        </p:txBody>
      </p:sp>
      <p:sp>
        <p:nvSpPr>
          <p:cNvPr id="28" name="chip-access-3"/>
          <p:cNvSpPr/>
          <p:nvPr/>
        </p:nvSpPr>
        <p:spPr>
          <a:xfrm>
            <a:off x="9692640" y="4009644"/>
            <a:ext cx="822960" cy="25603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692640" y="400964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회원</a:t>
            </a:r>
            <a:endParaRPr lang="en-US" sz="1100" dirty="0"/>
          </a:p>
        </p:txBody>
      </p:sp>
      <p:sp>
        <p:nvSpPr>
          <p:cNvPr id="30" name="chip-phase-3"/>
          <p:cNvSpPr/>
          <p:nvPr/>
        </p:nvSpPr>
        <p:spPr>
          <a:xfrm>
            <a:off x="10607040" y="4009644"/>
            <a:ext cx="82296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607040" y="400964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2차 출시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343400" y="4302252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고른 공고를 일정표로 인쇄하거나 엑셀로 저장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343400" y="4576572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예) 이번 주 투찰 일정표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6. 고객센터</a:t>
            </a:r>
            <a:endParaRPr lang="en-US" sz="3000" dirty="0"/>
          </a:p>
        </p:txBody>
      </p:sp>
      <p:sp>
        <p:nvSpPr>
          <p:cNvPr id="3" name="menu-panel"/>
          <p:cNvSpPr/>
          <p:nvPr/>
        </p:nvSpPr>
        <p:spPr>
          <a:xfrm>
            <a:off x="548640" y="1325880"/>
            <a:ext cx="3291840" cy="4846320"/>
          </a:xfrm>
          <a:prstGeom prst="roundRect">
            <a:avLst>
              <a:gd name="adj" fmla="val 2222"/>
            </a:avLst>
          </a:prstGeom>
          <a:solidFill>
            <a:schemeClr val="tx2"/>
          </a:solidFill>
          <a:ln/>
        </p:spPr>
      </p:sp>
      <p:sp>
        <p:nvSpPr>
          <p:cNvPr id="4" name="menu-panel-badge"/>
          <p:cNvSpPr/>
          <p:nvPr/>
        </p:nvSpPr>
        <p:spPr>
          <a:xfrm>
            <a:off x="868680" y="164592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6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60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고객센터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004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이용 중 도움을 받는 곳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389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이럴 때 써요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7091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사용법이 궁금하거나 결제할 때</a:t>
            </a:r>
            <a:endParaRPr lang="en-US" sz="1500" dirty="0"/>
          </a:p>
        </p:txBody>
      </p:sp>
      <p:sp>
        <p:nvSpPr>
          <p:cNvPr id="10" name="feature-1"/>
          <p:cNvSpPr/>
          <p:nvPr/>
        </p:nvSpPr>
        <p:spPr>
          <a:xfrm>
            <a:off x="4114800" y="1325880"/>
            <a:ext cx="749808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43400" y="14859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1:1 문의</a:t>
            </a:r>
            <a:endParaRPr lang="en-US" sz="1600" dirty="0"/>
          </a:p>
        </p:txBody>
      </p:sp>
      <p:sp>
        <p:nvSpPr>
          <p:cNvPr id="12" name="chip-access-1"/>
          <p:cNvSpPr/>
          <p:nvPr/>
        </p:nvSpPr>
        <p:spPr>
          <a:xfrm>
            <a:off x="9692640" y="1504188"/>
            <a:ext cx="822960" cy="25603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92640" y="15041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회원</a:t>
            </a:r>
            <a:endParaRPr lang="en-US" sz="1100" dirty="0"/>
          </a:p>
        </p:txBody>
      </p:sp>
      <p:sp>
        <p:nvSpPr>
          <p:cNvPr id="14" name="chip-phase-1"/>
          <p:cNvSpPr/>
          <p:nvPr/>
        </p:nvSpPr>
        <p:spPr>
          <a:xfrm>
            <a:off x="10607040" y="1504188"/>
            <a:ext cx="82296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607040" y="15041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2차 출시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343400" y="179679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궁금한 점을 글로 남기고 답변 받기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343400" y="2071116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예) 영수증 재발행 요청</a:t>
            </a:r>
            <a:endParaRPr lang="en-US" sz="1200" dirty="0"/>
          </a:p>
        </p:txBody>
      </p:sp>
      <p:sp>
        <p:nvSpPr>
          <p:cNvPr id="18" name="feature-2"/>
          <p:cNvSpPr/>
          <p:nvPr/>
        </p:nvSpPr>
        <p:spPr>
          <a:xfrm>
            <a:off x="4114800" y="2578608"/>
            <a:ext cx="749808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343400" y="27386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요금 안내·결제</a:t>
            </a:r>
            <a:endParaRPr lang="en-US" sz="1600" dirty="0"/>
          </a:p>
        </p:txBody>
      </p:sp>
      <p:sp>
        <p:nvSpPr>
          <p:cNvPr id="20" name="chip-access-2"/>
          <p:cNvSpPr/>
          <p:nvPr/>
        </p:nvSpPr>
        <p:spPr>
          <a:xfrm>
            <a:off x="9692640" y="2756916"/>
            <a:ext cx="822960" cy="25603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92640" y="27569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누구나</a:t>
            </a:r>
            <a:endParaRPr lang="en-US" sz="1100" dirty="0"/>
          </a:p>
        </p:txBody>
      </p:sp>
      <p:sp>
        <p:nvSpPr>
          <p:cNvPr id="22" name="chip-phase-2"/>
          <p:cNvSpPr/>
          <p:nvPr/>
        </p:nvSpPr>
        <p:spPr>
          <a:xfrm>
            <a:off x="10607040" y="2756916"/>
            <a:ext cx="82296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607040" y="27569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2차 출시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343400" y="304952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이용 요금 확인, 카드 정기결제, 세금계산서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343400" y="3323844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예) 월 이용료 자동결제</a:t>
            </a:r>
            <a:endParaRPr lang="en-US" sz="1200" dirty="0"/>
          </a:p>
        </p:txBody>
      </p:sp>
      <p:sp>
        <p:nvSpPr>
          <p:cNvPr id="26" name="feature-3"/>
          <p:cNvSpPr/>
          <p:nvPr/>
        </p:nvSpPr>
        <p:spPr>
          <a:xfrm>
            <a:off x="4114800" y="3831336"/>
            <a:ext cx="749808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343400" y="39913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원격지원</a:t>
            </a:r>
            <a:endParaRPr lang="en-US" sz="1600" dirty="0"/>
          </a:p>
        </p:txBody>
      </p:sp>
      <p:sp>
        <p:nvSpPr>
          <p:cNvPr id="28" name="chip-access-3"/>
          <p:cNvSpPr/>
          <p:nvPr/>
        </p:nvSpPr>
        <p:spPr>
          <a:xfrm>
            <a:off x="9692640" y="4009644"/>
            <a:ext cx="822960" cy="25603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692640" y="400964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누구나</a:t>
            </a:r>
            <a:endParaRPr lang="en-US" sz="1100" dirty="0"/>
          </a:p>
        </p:txBody>
      </p:sp>
      <p:sp>
        <p:nvSpPr>
          <p:cNvPr id="30" name="chip-phase-3"/>
          <p:cNvSpPr/>
          <p:nvPr/>
        </p:nvSpPr>
        <p:spPr>
          <a:xfrm>
            <a:off x="10607040" y="4009644"/>
            <a:ext cx="82296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607040" y="400964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2차 출시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343400" y="4302252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상담원이 화면을 보며 사용법 안내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343400" y="4576572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예) 계산기 사용법 안내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회원이 아니어도 쓸 수 있는 기능</a:t>
            </a:r>
            <a:endParaRPr lang="en-US" sz="3000" dirty="0"/>
          </a:p>
        </p:txBody>
      </p:sp>
      <p:sp>
        <p:nvSpPr>
          <p:cNvPr id="3" name="access-col-1"/>
          <p:cNvSpPr/>
          <p:nvPr/>
        </p:nvSpPr>
        <p:spPr>
          <a:xfrm>
            <a:off x="548640" y="1325880"/>
            <a:ext cx="5440680" cy="4846320"/>
          </a:xfrm>
          <a:prstGeom prst="roundRect">
            <a:avLst>
              <a:gd name="adj" fmla="val 1509"/>
            </a:avLst>
          </a:prstGeom>
          <a:solidFill>
            <a:schemeClr val="bg2"/>
          </a:solidFill>
          <a:ln/>
        </p:spPr>
      </p:sp>
      <p:sp>
        <p:nvSpPr>
          <p:cNvPr id="4" name="access-chip-1"/>
          <p:cNvSpPr/>
          <p:nvPr/>
        </p:nvSpPr>
        <p:spPr>
          <a:xfrm>
            <a:off x="822960" y="1600200"/>
            <a:ext cx="1005840" cy="25603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누구나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57276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가입 없이 바로 사용 · 6개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03120"/>
            <a:ext cx="4892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투찰금액 계산기  (입찰 도구)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투찰률·실적배수 표  (입찰 도구)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업종별 평균 경영비율  (입찰 도구)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공지·발주처 소식  (자료실)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요금 안내·결제  (고객센터)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원격지원  (고객센터)</a:t>
            </a:r>
            <a:endParaRPr lang="en-US" sz="1500" dirty="0"/>
          </a:p>
        </p:txBody>
      </p:sp>
      <p:sp>
        <p:nvSpPr>
          <p:cNvPr id="8" name="access-col-2"/>
          <p:cNvSpPr/>
          <p:nvPr/>
        </p:nvSpPr>
        <p:spPr>
          <a:xfrm>
            <a:off x="6172200" y="1325880"/>
            <a:ext cx="5440680" cy="4846320"/>
          </a:xfrm>
          <a:prstGeom prst="roundRect">
            <a:avLst>
              <a:gd name="adj" fmla="val 1509"/>
            </a:avLst>
          </a:prstGeom>
          <a:solidFill>
            <a:schemeClr val="bg2"/>
          </a:solidFill>
          <a:ln/>
        </p:spPr>
      </p:sp>
      <p:sp>
        <p:nvSpPr>
          <p:cNvPr id="9" name="access-chip-2"/>
          <p:cNvSpPr/>
          <p:nvPr/>
        </p:nvSpPr>
        <p:spPr>
          <a:xfrm>
            <a:off x="6446520" y="1600200"/>
            <a:ext cx="1005840" cy="25603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16002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회원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157276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가입 후 사용 (유료 회원 기준) · 16개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103120"/>
            <a:ext cx="4892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진행 중인 공고  (공고 찾기)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공고 검색  (공고 찾기)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공고 상세  (공고 찾기)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개찰 결과  (공고 찾기)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검색 조건 저장  (공고 찾기)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관심 공고  (내 입찰)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폴더·휴지통  (내 입찰)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내 투찰 기록  (내 입찰)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경쟁사 투찰 성향  (내 입찰)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입찰 가능 금액 조회  (내 입찰)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적격심사 예상 점수  (입찰 도구)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새 공고 알림  (알림)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마감·개찰 알림  (알림)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발주처별 적격심사 기준  (자료실)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출력·엑셀 저장  (자료실)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1:1 문의  (고객센터)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기능은 세 번에 나눠 출시합니다</a:t>
            </a:r>
            <a:endParaRPr lang="en-US" sz="3000" dirty="0"/>
          </a:p>
        </p:txBody>
      </p:sp>
      <p:sp>
        <p:nvSpPr>
          <p:cNvPr id="3" name="phase-head-1"/>
          <p:cNvSpPr/>
          <p:nvPr/>
        </p:nvSpPr>
        <p:spPr>
          <a:xfrm>
            <a:off x="548640" y="1325880"/>
            <a:ext cx="3566160" cy="1143000"/>
          </a:xfrm>
          <a:prstGeom prst="roundRect">
            <a:avLst>
              <a:gd name="adj" fmla="val 64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1차 출시 · 처음 문 열 때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공사 공고를 찾고, 담고, 계산하는 기본 기능</a:t>
            </a:r>
            <a:endParaRPr lang="en-US" sz="1300" dirty="0"/>
          </a:p>
        </p:txBody>
      </p:sp>
      <p:sp>
        <p:nvSpPr>
          <p:cNvPr id="6" name="phase-body-1"/>
          <p:cNvSpPr/>
          <p:nvPr/>
        </p:nvSpPr>
        <p:spPr>
          <a:xfrm>
            <a:off x="548640" y="2606040"/>
            <a:ext cx="3566160" cy="35661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788920"/>
            <a:ext cx="30175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진행 중인 공고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공고 검색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공고 상세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관심 공고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투찰금액 계산기</a:t>
            </a:r>
            <a:endParaRPr lang="en-US" sz="1400" dirty="0"/>
          </a:p>
        </p:txBody>
      </p:sp>
      <p:sp>
        <p:nvSpPr>
          <p:cNvPr id="8" name="phase-head-2"/>
          <p:cNvSpPr/>
          <p:nvPr/>
        </p:nvSpPr>
        <p:spPr>
          <a:xfrm>
            <a:off x="4297680" y="1325880"/>
            <a:ext cx="3566160" cy="1143000"/>
          </a:xfrm>
          <a:prstGeom prst="roundRect">
            <a:avLst>
              <a:gd name="adj" fmla="val 6400"/>
            </a:avLst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0" y="1463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2차 출시 · 유료 서비스 시작 때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결제, 알림, 개찰 결과, 참고 자료</a:t>
            </a:r>
            <a:endParaRPr lang="en-US" sz="1300" dirty="0"/>
          </a:p>
        </p:txBody>
      </p:sp>
      <p:sp>
        <p:nvSpPr>
          <p:cNvPr id="11" name="phase-body-2"/>
          <p:cNvSpPr/>
          <p:nvPr/>
        </p:nvSpPr>
        <p:spPr>
          <a:xfrm>
            <a:off x="4297680" y="2606040"/>
            <a:ext cx="3566160" cy="35661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0" y="2788920"/>
            <a:ext cx="30175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개찰 결과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검색 조건 저장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폴더·휴지통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투찰률·실적배수 표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업종별 평균 경영비율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새 공고 알림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마감·개찰 알림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공지·발주처 소식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발주처별 적격심사 기준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출력·엑셀 저장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1:1 문의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요금 안내·결제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원격지원</a:t>
            </a:r>
            <a:endParaRPr lang="en-US" sz="1300" dirty="0"/>
          </a:p>
        </p:txBody>
      </p:sp>
      <p:sp>
        <p:nvSpPr>
          <p:cNvPr id="13" name="phase-head-3"/>
          <p:cNvSpPr/>
          <p:nvPr/>
        </p:nvSpPr>
        <p:spPr>
          <a:xfrm>
            <a:off x="8046720" y="1325880"/>
            <a:ext cx="3566160" cy="1143000"/>
          </a:xfrm>
          <a:prstGeom prst="roundRect">
            <a:avLst>
              <a:gd name="adj" fmla="val 6400"/>
            </a:avLst>
          </a:prstGeom>
          <a:solidFill>
            <a:schemeClr val="accent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21040" y="1463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3차 출시 · 분석·확장 때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분석 기능과 수집 대상 확대</a:t>
            </a:r>
            <a:endParaRPr lang="en-US" sz="1300" dirty="0"/>
          </a:p>
        </p:txBody>
      </p:sp>
      <p:sp>
        <p:nvSpPr>
          <p:cNvPr id="16" name="phase-body-3"/>
          <p:cNvSpPr/>
          <p:nvPr/>
        </p:nvSpPr>
        <p:spPr>
          <a:xfrm>
            <a:off x="8046720" y="2606040"/>
            <a:ext cx="3566160" cy="35661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21040" y="2788920"/>
            <a:ext cx="30175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내 투찰 기록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경쟁사 투찰 성향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입찰 가능 금액 조회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적격심사 예상 점수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용역·물품 공고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국방·한전·LH 공고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의견을 들려주세요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함께 보내 드린 기능 확인서에서 필요한 기능을 골라 주시면, 그 결과로 메뉴와 기능을 확정합니다.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d Service">
  <a:themeElements>
    <a:clrScheme name="Bid Service">
      <a:dk1>
        <a:srgbClr val="1A2230"/>
      </a:dk1>
      <a:lt1>
        <a:srgbClr val="FFFFFF"/>
      </a:lt1>
      <a:dk2>
        <a:srgbClr val="0F3D3E"/>
      </a:dk2>
      <a:lt2>
        <a:srgbClr val="EDF3F2"/>
      </a:lt2>
      <a:accent1>
        <a:srgbClr val="1F6F6B"/>
      </a:accent1>
      <a:accent2>
        <a:srgbClr val="C98A00"/>
      </a:accent2>
      <a:accent3>
        <a:srgbClr val="B4432F"/>
      </a:accent3>
      <a:accent4>
        <a:srgbClr val="2E7D4F"/>
      </a:accent4>
      <a:accent5>
        <a:srgbClr val="6B7785"/>
      </a:accent5>
      <a:accent6>
        <a:srgbClr val="D6E5E3"/>
      </a:accent6>
      <a:hlink>
        <a:srgbClr val="1F6F6B"/>
      </a:hlink>
      <a:folHlink>
        <a:srgbClr val="6B7785"/>
      </a:folHlink>
    </a:clrScheme>
    <a:fontScheme name="Bid Serv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입찰정보 사이트 메뉴·기능 안내</dc:title>
  <dc:subject>PptxGenJS Presentation</dc:subject>
  <dc:creator>na-nim</dc:creator>
  <cp:lastModifiedBy>na-nim</cp:lastModifiedBy>
  <cp:revision>1</cp:revision>
  <dcterms:created xsi:type="dcterms:W3CDTF">2026-10-12T07:17:03Z</dcterms:created>
  <dcterms:modified xsi:type="dcterms:W3CDTF">2026-10-12T07:17:03Z</dcterms:modified>
</cp:coreProperties>
</file>