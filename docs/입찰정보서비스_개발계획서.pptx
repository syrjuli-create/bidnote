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d7b47567-b159-0ed8-4677-7fca54a21344}">
          <p14:sldIdLst>
            <p14:sldId id="256"/>
            <p14:sldId id="257"/>
          </p14:sldIdLst>
        </p14:section>
        <p14:section name="벤치마크 분석" id="{0cef3b0f-98ec-0718-df38-4d898e8d7ef0}">
          <p14:sldIdLst>
            <p14:sldId id="258"/>
            <p14:sldId id="259"/>
            <p14:sldId id="260"/>
            <p14:sldId id="261"/>
          </p14:sldIdLst>
        </p14:section>
        <p14:section name="신규 서비스 설계" id="{68f27886-dbe2-4237-814b-e9189deb9250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실행 계획" id="{6d9073e1-fb0d-59cc-effe-4651e7ce4003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입찰정보 서비스 개발 계획서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입찰정보 서비스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개발 계획서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금강입찰(kumkangbid.co.kr) 메뉴 분석 기반 · 초안 v0.1 · 2026-10-08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 장 요약</a:t>
            </a:r>
            <a:endParaRPr lang="en-US" sz="3000" dirty="0"/>
          </a:p>
        </p:txBody>
      </p:sp>
      <p:sp>
        <p:nvSpPr>
          <p:cNvPr id="3" name="summary-1"/>
          <p:cNvSpPr/>
          <p:nvPr/>
        </p:nvSpPr>
        <p:spPr>
          <a:xfrm>
            <a:off x="548640" y="1463040"/>
            <a:ext cx="263347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 · 18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벤치마크 메뉴 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대메뉴 6개, 하위메뉴 18개</a:t>
            </a:r>
            <a:endParaRPr lang="en-US" sz="1300" dirty="0"/>
          </a:p>
        </p:txBody>
      </p:sp>
      <p:sp>
        <p:nvSpPr>
          <p:cNvPr id="7" name="summary-2"/>
          <p:cNvSpPr/>
          <p:nvPr/>
        </p:nvSpPr>
        <p:spPr>
          <a:xfrm>
            <a:off x="3364992" y="1463040"/>
            <a:ext cx="263347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69164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무료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공고 데이터 출처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0632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조달청 나라장터 공공데이터 API</a:t>
            </a:r>
            <a:endParaRPr lang="en-US" sz="1300" dirty="0"/>
          </a:p>
        </p:txBody>
      </p:sp>
      <p:sp>
        <p:nvSpPr>
          <p:cNvPr id="11" name="summary-3"/>
          <p:cNvSpPr/>
          <p:nvPr/>
        </p:nvSpPr>
        <p:spPr>
          <a:xfrm>
            <a:off x="6181344" y="1463040"/>
            <a:ext cx="263347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69164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9주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MVP 완성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0632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공고 검색·관심 공고·계산기</a:t>
            </a:r>
            <a:endParaRPr lang="en-US" sz="1300" dirty="0"/>
          </a:p>
        </p:txBody>
      </p:sp>
      <p:sp>
        <p:nvSpPr>
          <p:cNvPr id="15" name="summary-4"/>
          <p:cNvSpPr/>
          <p:nvPr/>
        </p:nvSpPr>
        <p:spPr>
          <a:xfrm>
            <a:off x="8997696" y="1463040"/>
            <a:ext cx="263347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69164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13주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유료 서비스 오픈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0632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결제·알림·투찰 기록 추가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목표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금강입찰과 비슷한 입찰정보 서비스를 공식 공공데이터로 새로 만든다. 벤치마크의 콘텐츠·디자인은 복사하지 않는다.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스택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ASP.NET Core (.NET 10) + Blazor, PostgreSQL, Hangfire 수집 워커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벤치마크 메뉴 구성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82296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하위 메뉴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접근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추정 기능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시설·용역·물품 공고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진행공고, 개찰공고 (각 분류별)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공고 목록·상세 팝업, 체크 후 서류함 이동·출력, 개찰 순위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내서류함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내서류함, 투찰결과, 경쟁사투찰성향, 삭제공고, 입찰한도조회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관심 공고 분류 보관, 투찰 결과·경쟁사 분석, 참여 한도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커뮤니티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공지사항, 발주처소식, 발주처별 적격심사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운영 공지, 기관 제도 변경, 심사 기준 자료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커뮤니티 (공개)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투찰금액 산출방식, 투찰율/실적배수, 업종별 평균비율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투찰 공식·예시, 발주처별 투찰률표, 업종 평균 경영비율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고객센터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이용문의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1:1 문의 게시판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이용약관, 개인정보취급방침, 원격지원(exe)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요금·환불 규정, 원격 상담 프로그램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회원 전용 페이지는 직접 보지 못했습니다. 메뉴명, 페이지 스크립트, 약관 제17조를 근거로 추정했습니다.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확인된 기능과 핵심 공식</a:t>
            </a:r>
            <a:endParaRPr lang="en-US" sz="3000" dirty="0"/>
          </a:p>
        </p:txBody>
      </p:sp>
      <p:sp>
        <p:nvSpPr>
          <p:cNvPr id="3" name="script-features"/>
          <p:cNvSpPr/>
          <p:nvPr/>
        </p:nvSpPr>
        <p:spPr>
          <a:xfrm>
            <a:off x="548640" y="1325880"/>
            <a:ext cx="512064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페이지 스크립트에서 확인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공고 다중 선택 → 서류함 일괄 이동·출력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공고 상세 새 창 팝업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투찰금액 ↔ 사정률 양방향 계산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서류함 분류(폴더) 이동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원격지원 프로그램 내려받기</a:t>
            </a:r>
            <a:endParaRPr lang="en-US" sz="1500" dirty="0"/>
          </a:p>
        </p:txBody>
      </p:sp>
      <p:sp>
        <p:nvSpPr>
          <p:cNvPr id="6" name="formula-box"/>
          <p:cNvSpPr/>
          <p:nvPr/>
        </p:nvSpPr>
        <p:spPr>
          <a:xfrm>
            <a:off x="5943600" y="1325880"/>
            <a:ext cx="566928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투찰금액 산출 공식 (공개 자료)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기본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95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기초금액 × 사정률 × 낙찰하한율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063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A값 적용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3558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{(기초금액 × 사정률) − A} × 낙찰하한율 + 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순공사원가 하한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315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순공사원가 × 사정률 × 0.98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A값 적용 금액과 순공사원가 하한 중 높은 금액으로 투찰. 하한보다 낮으면 적격심사에서 제외.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벤치마크 수익 구조</a:t>
            </a:r>
            <a:endParaRPr lang="en-US" sz="3000" dirty="0"/>
          </a:p>
        </p:txBody>
      </p:sp>
      <p:sp>
        <p:nvSpPr>
          <p:cNvPr id="3" name="bm-1"/>
          <p:cNvSpPr/>
          <p:nvPr/>
        </p:nvSpPr>
        <p:spPr>
          <a:xfrm>
            <a:off x="548640" y="1463040"/>
            <a:ext cx="2633472" cy="265176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월 구독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27,500원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공고·낙찰 정보 열람, 분석 프로그램</a:t>
            </a:r>
            <a:endParaRPr lang="en-US" sz="1300" dirty="0"/>
          </a:p>
        </p:txBody>
      </p:sp>
      <p:sp>
        <p:nvSpPr>
          <p:cNvPr id="7" name="bm-2"/>
          <p:cNvSpPr/>
          <p:nvPr/>
        </p:nvSpPr>
        <p:spPr>
          <a:xfrm>
            <a:off x="3364992" y="1463040"/>
            <a:ext cx="2633472" cy="265176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691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분석서비스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1488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낙찰 수수료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92608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분석가가 투찰가 제시, 별도 계약</a:t>
            </a:r>
            <a:endParaRPr lang="en-US" sz="1300" dirty="0"/>
          </a:p>
        </p:txBody>
      </p:sp>
      <p:sp>
        <p:nvSpPr>
          <p:cNvPr id="11" name="bm-3"/>
          <p:cNvSpPr/>
          <p:nvPr/>
        </p:nvSpPr>
        <p:spPr>
          <a:xfrm>
            <a:off x="6181344" y="1463040"/>
            <a:ext cx="2633472" cy="265176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691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입찰내역서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1488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건별 유료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92608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마감 전날까지 신청, 이메일 발송</a:t>
            </a:r>
            <a:endParaRPr lang="en-US" sz="1300" dirty="0"/>
          </a:p>
        </p:txBody>
      </p:sp>
      <p:sp>
        <p:nvSpPr>
          <p:cNvPr id="15" name="bm-4"/>
          <p:cNvSpPr/>
          <p:nvPr/>
        </p:nvSpPr>
        <p:spPr>
          <a:xfrm>
            <a:off x="8997696" y="1463040"/>
            <a:ext cx="2633472" cy="265176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691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부가 운영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1488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-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92608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웹 세금계산서, 원격지원, 월 300MB 제한</a:t>
            </a:r>
            <a:endParaRPr lang="en-US" sz="1300" dirty="0"/>
          </a:p>
        </p:txBody>
      </p:sp>
      <p:sp>
        <p:nvSpPr>
          <p:cNvPr id="19" name="bm-reco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권장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1단계는 '월 구독 + 무료 계산 도구'로 시작하고, 사람이 투찰가를 제시하는 분석서비스는 운영 인력이 생긴 뒤 붙인다.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개선 기회</a:t>
            </a:r>
            <a:endParaRPr lang="en-US" sz="3000" dirty="0"/>
          </a:p>
        </p:txBody>
      </p:sp>
      <p:sp>
        <p:nvSpPr>
          <p:cNvPr id="3" name="improve-1"/>
          <p:cNvSpPr/>
          <p:nvPr/>
        </p:nvSpPr>
        <p:spPr>
          <a:xfrm>
            <a:off x="548640" y="1325880"/>
            <a:ext cx="544068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</p:spPr>
      </p:sp>
      <p:sp>
        <p:nvSpPr>
          <p:cNvPr id="4" name="improve-badge-1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기술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EUC-KR 인코딩, jQuery 기반 구형 구조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모바일 화면 미대응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새 창 팝업 위주라 휴대폰에서 쓰기 어려움</a:t>
            </a:r>
            <a:endParaRPr lang="en-US" sz="1600" dirty="0"/>
          </a:p>
        </p:txBody>
      </p:sp>
      <p:sp>
        <p:nvSpPr>
          <p:cNvPr id="8" name="improve-2"/>
          <p:cNvSpPr/>
          <p:nvPr/>
        </p:nvSpPr>
        <p:spPr>
          <a:xfrm>
            <a:off x="6172200" y="1325880"/>
            <a:ext cx="544068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</p:spPr>
      </p:sp>
      <p:sp>
        <p:nvSpPr>
          <p:cNvPr id="9" name="improve-badge-2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6002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서비스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42316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맞춤 공고 알림(메일·푸시)이 보이지 않음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가입 시 주민등록번호 수집 (약관 기준)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결제가 무통장입금 중심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→ 모바일 대응, 맞춤 알림, 카드 정기결제, 최소한의 개인정보 수집을 신규 서비스의 차별점으로 삼는다.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신규 메뉴 구조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공고 종류별 대메뉴 3개를 '공고 찾기' 하나로 합치고, 비회원도 쓰는 '입찰 도구'를 새로 둔다.</a:t>
            </a:r>
            <a:endParaRPr lang="en-US" sz="1500" dirty="0"/>
          </a:p>
        </p:txBody>
      </p:sp>
      <p:sp>
        <p:nvSpPr>
          <p:cNvPr id="4" name="tree-head-1"/>
          <p:cNvSpPr/>
          <p:nvPr/>
        </p:nvSpPr>
        <p:spPr>
          <a:xfrm>
            <a:off x="548640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공고 찾기</a:t>
            </a:r>
            <a:endParaRPr lang="en-US" sz="1600" dirty="0"/>
          </a:p>
        </p:txBody>
      </p:sp>
      <p:sp>
        <p:nvSpPr>
          <p:cNvPr id="6" name="tree-item-1-1"/>
          <p:cNvSpPr/>
          <p:nvPr/>
        </p:nvSpPr>
        <p:spPr>
          <a:xfrm>
            <a:off x="548640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진행 중인 공고</a:t>
            </a:r>
            <a:endParaRPr lang="en-US" sz="1200" dirty="0"/>
          </a:p>
        </p:txBody>
      </p:sp>
      <p:sp>
        <p:nvSpPr>
          <p:cNvPr id="8" name="tree-item-1-2"/>
          <p:cNvSpPr/>
          <p:nvPr/>
        </p:nvSpPr>
        <p:spPr>
          <a:xfrm>
            <a:off x="548640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공고 검색</a:t>
            </a:r>
            <a:endParaRPr lang="en-US" sz="1200" dirty="0"/>
          </a:p>
        </p:txBody>
      </p:sp>
      <p:sp>
        <p:nvSpPr>
          <p:cNvPr id="10" name="tree-item-1-3"/>
          <p:cNvSpPr/>
          <p:nvPr/>
        </p:nvSpPr>
        <p:spPr>
          <a:xfrm>
            <a:off x="548640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공고 상세</a:t>
            </a:r>
            <a:endParaRPr lang="en-US" sz="1200" dirty="0"/>
          </a:p>
        </p:txBody>
      </p:sp>
      <p:sp>
        <p:nvSpPr>
          <p:cNvPr id="12" name="tree-item-1-4"/>
          <p:cNvSpPr/>
          <p:nvPr/>
        </p:nvSpPr>
        <p:spPr>
          <a:xfrm>
            <a:off x="548640" y="4700016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7000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개찰 결과</a:t>
            </a:r>
            <a:endParaRPr lang="en-US" sz="1200" dirty="0"/>
          </a:p>
        </p:txBody>
      </p:sp>
      <p:sp>
        <p:nvSpPr>
          <p:cNvPr id="14" name="tree-item-1-5"/>
          <p:cNvSpPr/>
          <p:nvPr/>
        </p:nvSpPr>
        <p:spPr>
          <a:xfrm>
            <a:off x="548640" y="5413248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4132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검색 조건 저장</a:t>
            </a:r>
            <a:endParaRPr lang="en-US" sz="1200" dirty="0"/>
          </a:p>
        </p:txBody>
      </p:sp>
      <p:sp>
        <p:nvSpPr>
          <p:cNvPr id="16" name="tree-head-2"/>
          <p:cNvSpPr/>
          <p:nvPr/>
        </p:nvSpPr>
        <p:spPr>
          <a:xfrm>
            <a:off x="2414016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14016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내 입찰</a:t>
            </a:r>
            <a:endParaRPr lang="en-US" sz="1600" dirty="0"/>
          </a:p>
        </p:txBody>
      </p:sp>
      <p:sp>
        <p:nvSpPr>
          <p:cNvPr id="18" name="tree-item-2-1"/>
          <p:cNvSpPr/>
          <p:nvPr/>
        </p:nvSpPr>
        <p:spPr>
          <a:xfrm>
            <a:off x="2414016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505456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관심 공고·폴더</a:t>
            </a:r>
            <a:endParaRPr lang="en-US" sz="1200" dirty="0"/>
          </a:p>
        </p:txBody>
      </p:sp>
      <p:sp>
        <p:nvSpPr>
          <p:cNvPr id="20" name="tree-item-2-2"/>
          <p:cNvSpPr/>
          <p:nvPr/>
        </p:nvSpPr>
        <p:spPr>
          <a:xfrm>
            <a:off x="2414016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05456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휴지통</a:t>
            </a:r>
            <a:endParaRPr lang="en-US" sz="1200" dirty="0"/>
          </a:p>
        </p:txBody>
      </p:sp>
      <p:sp>
        <p:nvSpPr>
          <p:cNvPr id="22" name="tree-item-2-3"/>
          <p:cNvSpPr/>
          <p:nvPr/>
        </p:nvSpPr>
        <p:spPr>
          <a:xfrm>
            <a:off x="2414016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05456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내 투찰 기록</a:t>
            </a:r>
            <a:endParaRPr lang="en-US" sz="1200" dirty="0"/>
          </a:p>
        </p:txBody>
      </p:sp>
      <p:sp>
        <p:nvSpPr>
          <p:cNvPr id="24" name="tree-item-2-4"/>
          <p:cNvSpPr/>
          <p:nvPr/>
        </p:nvSpPr>
        <p:spPr>
          <a:xfrm>
            <a:off x="2414016" y="4700016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05456" y="47000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경쟁사 투찰 성향</a:t>
            </a:r>
            <a:endParaRPr lang="en-US" sz="1200" dirty="0"/>
          </a:p>
        </p:txBody>
      </p:sp>
      <p:sp>
        <p:nvSpPr>
          <p:cNvPr id="26" name="tree-item-2-5"/>
          <p:cNvSpPr/>
          <p:nvPr/>
        </p:nvSpPr>
        <p:spPr>
          <a:xfrm>
            <a:off x="2414016" y="5413248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505456" y="54132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입찰 가능 금액 조회</a:t>
            </a:r>
            <a:endParaRPr lang="en-US" sz="1200" dirty="0"/>
          </a:p>
        </p:txBody>
      </p:sp>
      <p:sp>
        <p:nvSpPr>
          <p:cNvPr id="28" name="tree-head-3"/>
          <p:cNvSpPr/>
          <p:nvPr/>
        </p:nvSpPr>
        <p:spPr>
          <a:xfrm>
            <a:off x="4279392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279392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입찰 도구</a:t>
            </a:r>
            <a:endParaRPr lang="en-US" sz="1600" dirty="0"/>
          </a:p>
        </p:txBody>
      </p:sp>
      <p:sp>
        <p:nvSpPr>
          <p:cNvPr id="30" name="tree-item-3-1"/>
          <p:cNvSpPr/>
          <p:nvPr/>
        </p:nvSpPr>
        <p:spPr>
          <a:xfrm>
            <a:off x="4279392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70832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투찰금액 계산기</a:t>
            </a:r>
            <a:endParaRPr lang="en-US" sz="1200" dirty="0"/>
          </a:p>
        </p:txBody>
      </p:sp>
      <p:sp>
        <p:nvSpPr>
          <p:cNvPr id="32" name="tree-item-3-2"/>
          <p:cNvSpPr/>
          <p:nvPr/>
        </p:nvSpPr>
        <p:spPr>
          <a:xfrm>
            <a:off x="4279392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70832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투찰률·실적배수 표</a:t>
            </a:r>
            <a:endParaRPr lang="en-US" sz="1200" dirty="0"/>
          </a:p>
        </p:txBody>
      </p:sp>
      <p:sp>
        <p:nvSpPr>
          <p:cNvPr id="34" name="tree-item-3-3"/>
          <p:cNvSpPr/>
          <p:nvPr/>
        </p:nvSpPr>
        <p:spPr>
          <a:xfrm>
            <a:off x="4279392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370832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업종별 평균 경영비율</a:t>
            </a:r>
            <a:endParaRPr lang="en-US" sz="1200" dirty="0"/>
          </a:p>
        </p:txBody>
      </p:sp>
      <p:sp>
        <p:nvSpPr>
          <p:cNvPr id="36" name="tree-item-3-4"/>
          <p:cNvSpPr/>
          <p:nvPr/>
        </p:nvSpPr>
        <p:spPr>
          <a:xfrm>
            <a:off x="4279392" y="4700016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370832" y="47000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적격심사 예상 점수</a:t>
            </a:r>
            <a:endParaRPr lang="en-US" sz="1200" dirty="0"/>
          </a:p>
        </p:txBody>
      </p:sp>
      <p:sp>
        <p:nvSpPr>
          <p:cNvPr id="38" name="tree-head-4"/>
          <p:cNvSpPr/>
          <p:nvPr/>
        </p:nvSpPr>
        <p:spPr>
          <a:xfrm>
            <a:off x="6144768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144768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알림</a:t>
            </a:r>
            <a:endParaRPr lang="en-US" sz="1600" dirty="0"/>
          </a:p>
        </p:txBody>
      </p:sp>
      <p:sp>
        <p:nvSpPr>
          <p:cNvPr id="40" name="tree-item-4-1"/>
          <p:cNvSpPr/>
          <p:nvPr/>
        </p:nvSpPr>
        <p:spPr>
          <a:xfrm>
            <a:off x="6144768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36208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새 공고 알림</a:t>
            </a:r>
            <a:endParaRPr lang="en-US" sz="1200" dirty="0"/>
          </a:p>
        </p:txBody>
      </p:sp>
      <p:sp>
        <p:nvSpPr>
          <p:cNvPr id="42" name="tree-item-4-2"/>
          <p:cNvSpPr/>
          <p:nvPr/>
        </p:nvSpPr>
        <p:spPr>
          <a:xfrm>
            <a:off x="6144768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36208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마감·개찰 알림</a:t>
            </a:r>
            <a:endParaRPr lang="en-US" sz="1200" dirty="0"/>
          </a:p>
        </p:txBody>
      </p:sp>
      <p:sp>
        <p:nvSpPr>
          <p:cNvPr id="44" name="tree-head-5"/>
          <p:cNvSpPr/>
          <p:nvPr/>
        </p:nvSpPr>
        <p:spPr>
          <a:xfrm>
            <a:off x="8010144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010144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자료실</a:t>
            </a:r>
            <a:endParaRPr lang="en-US" sz="1600" dirty="0"/>
          </a:p>
        </p:txBody>
      </p:sp>
      <p:sp>
        <p:nvSpPr>
          <p:cNvPr id="46" name="tree-item-5-1"/>
          <p:cNvSpPr/>
          <p:nvPr/>
        </p:nvSpPr>
        <p:spPr>
          <a:xfrm>
            <a:off x="8010144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101584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공지·발주처 소식</a:t>
            </a:r>
            <a:endParaRPr lang="en-US" sz="1200" dirty="0"/>
          </a:p>
        </p:txBody>
      </p:sp>
      <p:sp>
        <p:nvSpPr>
          <p:cNvPr id="48" name="tree-item-5-2"/>
          <p:cNvSpPr/>
          <p:nvPr/>
        </p:nvSpPr>
        <p:spPr>
          <a:xfrm>
            <a:off x="8010144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101584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발주처별 적격심사 기준</a:t>
            </a:r>
            <a:endParaRPr lang="en-US" sz="1200" dirty="0"/>
          </a:p>
        </p:txBody>
      </p:sp>
      <p:sp>
        <p:nvSpPr>
          <p:cNvPr id="50" name="tree-item-5-3"/>
          <p:cNvSpPr/>
          <p:nvPr/>
        </p:nvSpPr>
        <p:spPr>
          <a:xfrm>
            <a:off x="8010144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101584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출력·엑셀 저장</a:t>
            </a:r>
            <a:endParaRPr lang="en-US" sz="1200" dirty="0"/>
          </a:p>
        </p:txBody>
      </p:sp>
      <p:sp>
        <p:nvSpPr>
          <p:cNvPr id="52" name="tree-head-6"/>
          <p:cNvSpPr/>
          <p:nvPr/>
        </p:nvSpPr>
        <p:spPr>
          <a:xfrm>
            <a:off x="9875520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87552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고객센터</a:t>
            </a:r>
            <a:endParaRPr lang="en-US" sz="1600" dirty="0"/>
          </a:p>
        </p:txBody>
      </p:sp>
      <p:sp>
        <p:nvSpPr>
          <p:cNvPr id="54" name="tree-item-6-1"/>
          <p:cNvSpPr/>
          <p:nvPr/>
        </p:nvSpPr>
        <p:spPr>
          <a:xfrm>
            <a:off x="9875520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966960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1:1 문의</a:t>
            </a:r>
            <a:endParaRPr lang="en-US" sz="1200" dirty="0"/>
          </a:p>
        </p:txBody>
      </p:sp>
      <p:sp>
        <p:nvSpPr>
          <p:cNvPr id="56" name="tree-item-6-2"/>
          <p:cNvSpPr/>
          <p:nvPr/>
        </p:nvSpPr>
        <p:spPr>
          <a:xfrm>
            <a:off x="9875520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966960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요금 안내·결제</a:t>
            </a:r>
            <a:endParaRPr lang="en-US" sz="1200" dirty="0"/>
          </a:p>
        </p:txBody>
      </p:sp>
      <p:sp>
        <p:nvSpPr>
          <p:cNvPr id="58" name="tree-item-6-3"/>
          <p:cNvSpPr/>
          <p:nvPr/>
        </p:nvSpPr>
        <p:spPr>
          <a:xfrm>
            <a:off x="9875520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966960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원격지원</a:t>
            </a:r>
            <a:endParaRPr lang="en-US" sz="1200" dirty="0"/>
          </a:p>
        </p:txBody>
      </p:sp>
      <p:sp>
        <p:nvSpPr>
          <p:cNvPr id="60" name="legend-public"/>
          <p:cNvSpPr/>
          <p:nvPr/>
        </p:nvSpPr>
        <p:spPr>
          <a:xfrm>
            <a:off x="548640" y="6172200"/>
            <a:ext cx="201168" cy="16459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22960" y="6126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누구나 사용 (공개)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기능 우선순위</a:t>
            </a:r>
            <a:endParaRPr lang="en-US" sz="3000" dirty="0"/>
          </a:p>
        </p:txBody>
      </p:sp>
      <p:sp>
        <p:nvSpPr>
          <p:cNvPr id="3" name="pri-head-1"/>
          <p:cNvSpPr/>
          <p:nvPr/>
        </p:nvSpPr>
        <p:spPr>
          <a:xfrm>
            <a:off x="548640" y="1325880"/>
            <a:ext cx="35661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MVP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첫 출시에 필수</a:t>
            </a:r>
            <a:endParaRPr lang="en-US" sz="1400" dirty="0"/>
          </a:p>
        </p:txBody>
      </p:sp>
      <p:sp>
        <p:nvSpPr>
          <p:cNvPr id="5" name="pri-body-1"/>
          <p:cNvSpPr/>
          <p:nvPr/>
        </p:nvSpPr>
        <p:spPr>
          <a:xfrm>
            <a:off x="548640" y="2286000"/>
            <a:ext cx="3566160" cy="38862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입찰 공고 자동 수집 (30분 주기)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기초금액·A값·순공사원가 수집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개찰 결과 수집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회원가입·로그인·구독 상태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공고 검색·필터, 공고 상세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관심 공고·폴더·휴지통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투찰금액 계산기 (공개)</a:t>
            </a:r>
            <a:endParaRPr lang="en-US" sz="1400" dirty="0"/>
          </a:p>
        </p:txBody>
      </p:sp>
      <p:sp>
        <p:nvSpPr>
          <p:cNvPr id="7" name="pri-head-2"/>
          <p:cNvSpPr/>
          <p:nvPr/>
        </p:nvSpPr>
        <p:spPr>
          <a:xfrm>
            <a:off x="4297680" y="1325880"/>
            <a:ext cx="356616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325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2차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유료 전환 후</a:t>
            </a:r>
            <a:endParaRPr lang="en-US" sz="1400" dirty="0"/>
          </a:p>
        </p:txBody>
      </p:sp>
      <p:sp>
        <p:nvSpPr>
          <p:cNvPr id="9" name="pri-body-2"/>
          <p:cNvSpPr/>
          <p:nvPr/>
        </p:nvSpPr>
        <p:spPr>
          <a:xfrm>
            <a:off x="4297680" y="2286000"/>
            <a:ext cx="3566160" cy="38862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46888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맞춤 공고 이메일 알림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정기결제·전자세금계산서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투찰 기록과 개찰 결과 매칭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공고 출력·엑셀 내보내기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관리자 화면</a:t>
            </a:r>
            <a:endParaRPr lang="en-US" sz="1400" dirty="0"/>
          </a:p>
        </p:txBody>
      </p:sp>
      <p:sp>
        <p:nvSpPr>
          <p:cNvPr id="11" name="pri-head-3"/>
          <p:cNvSpPr/>
          <p:nvPr/>
        </p:nvSpPr>
        <p:spPr>
          <a:xfrm>
            <a:off x="8046720" y="1325880"/>
            <a:ext cx="3566160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325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3차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차별화</a:t>
            </a:r>
            <a:endParaRPr lang="en-US" sz="1400" dirty="0"/>
          </a:p>
        </p:txBody>
      </p:sp>
      <p:sp>
        <p:nvSpPr>
          <p:cNvPr id="13" name="pri-body-3"/>
          <p:cNvSpPr/>
          <p:nvPr/>
        </p:nvSpPr>
        <p:spPr>
          <a:xfrm>
            <a:off x="8046720" y="2286000"/>
            <a:ext cx="3566160" cy="38862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 투찰 성향 분석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입찰 한도 조회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적격심사 예상 점수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모바일 푸시 (PWA/앱)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데이터 출처: 나라장터 공공데이터 API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API (공공데이터포털 서비스명)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쓰임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조달청_나라장터 입찰공고정보서비스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공사·용역·물품 공고 목록과 상세, 기초금액, 면허 제한, 참가 가능 지역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조달청_나라장터 낙찰정보서비스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개찰 결과, 업체별 투찰 순위·금액·투찰률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조달청_나라장터 사용자정보서비스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발주기관·조달업체 기본 정보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조달청_나라장터 계약정보서비스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계약 체결 내역 (실적 분석용, 3차)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api-notes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389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무료. data.go.kr 활용신청 후 받은 인증키로 호출 (운영 단계는 운영계정 신청)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A값·순공사원가 위치와 2024년 차세대 전환 후 필드 변화는 1주차에 실제 응답으로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국방전자조달·한전·LH 등 자체 전자조달 기관은 이 API로 수집되지 않음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시스템 구조</a:t>
            </a:r>
            <a:endParaRPr lang="en-US" sz="3000" dirty="0"/>
          </a:p>
        </p:txBody>
      </p:sp>
      <p:sp>
        <p:nvSpPr>
          <p:cNvPr id="3" name="n-g2b"/>
          <p:cNvSpPr/>
          <p:nvPr/>
        </p:nvSpPr>
        <p:spPr>
          <a:xfrm>
            <a:off x="548640" y="182880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나라장터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공공데이터포털</a:t>
            </a:r>
            <a:endParaRPr lang="en-US" sz="1400" dirty="0"/>
          </a:p>
        </p:txBody>
      </p:sp>
      <p:sp>
        <p:nvSpPr>
          <p:cNvPr id="5" name="n-worker"/>
          <p:cNvSpPr/>
          <p:nvPr/>
        </p:nvSpPr>
        <p:spPr>
          <a:xfrm>
            <a:off x="3291840" y="182880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8328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수집 워커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Hangfire · 30분 주기</a:t>
            </a:r>
            <a:endParaRPr lang="en-US" sz="1400" dirty="0"/>
          </a:p>
        </p:txBody>
      </p:sp>
      <p:sp>
        <p:nvSpPr>
          <p:cNvPr id="7" name="n-db"/>
          <p:cNvSpPr/>
          <p:nvPr/>
        </p:nvSpPr>
        <p:spPr>
          <a:xfrm>
            <a:off x="6035040" y="182880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공고·개찰·회원</a:t>
            </a:r>
            <a:endParaRPr lang="en-US" sz="1400" dirty="0"/>
          </a:p>
        </p:txBody>
      </p:sp>
      <p:sp>
        <p:nvSpPr>
          <p:cNvPr id="9" name="n-api"/>
          <p:cNvSpPr/>
          <p:nvPr/>
        </p:nvSpPr>
        <p:spPr>
          <a:xfrm>
            <a:off x="8778240" y="1828800"/>
            <a:ext cx="28346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0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웹 서버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ASP.NET Core</a:t>
            </a:r>
            <a:endParaRPr lang="en-US" sz="1400" dirty="0"/>
          </a:p>
        </p:txBody>
      </p:sp>
      <p:sp>
        <p:nvSpPr>
          <p:cNvPr id="11" name="n-mail"/>
          <p:cNvSpPr/>
          <p:nvPr/>
        </p:nvSpPr>
        <p:spPr>
          <a:xfrm>
            <a:off x="3291840" y="384048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알림 발송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이메일</a:t>
            </a:r>
            <a:endParaRPr lang="en-US" sz="1400" dirty="0"/>
          </a:p>
        </p:txBody>
      </p:sp>
      <p:sp>
        <p:nvSpPr>
          <p:cNvPr id="13" name="n-ui"/>
          <p:cNvSpPr/>
          <p:nvPr/>
        </p:nvSpPr>
        <p:spPr>
          <a:xfrm>
            <a:off x="8778240" y="384048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3840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사용자 화면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Blazor · PC/모바일</a:t>
            </a:r>
            <a:endParaRPr lang="en-US" sz="1400" dirty="0"/>
          </a:p>
        </p:txBody>
      </p:sp>
      <p:sp>
        <p:nvSpPr>
          <p:cNvPr id="15" name="n-admin"/>
          <p:cNvSpPr/>
          <p:nvPr/>
        </p:nvSpPr>
        <p:spPr>
          <a:xfrm>
            <a:off x="10241280" y="384048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332720" y="3840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관리자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운영 화면</a:t>
            </a:r>
            <a:endParaRPr lang="en-US" sz="1400" dirty="0"/>
          </a:p>
        </p:txBody>
      </p:sp>
      <p:sp>
        <p:nvSpPr>
          <p:cNvPr id="17" name="n-pg"/>
          <p:cNvSpPr/>
          <p:nvPr/>
        </p:nvSpPr>
        <p:spPr>
          <a:xfrm>
            <a:off x="6035040" y="384048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PG 정기결제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카드 자동결제</a:t>
            </a:r>
            <a:endParaRPr lang="en-US" sz="1400" dirty="0"/>
          </a:p>
        </p:txBody>
      </p:sp>
      <p:sp>
        <p:nvSpPr>
          <p:cNvPr id="19" name="n-tax"/>
          <p:cNvSpPr/>
          <p:nvPr/>
        </p:nvSpPr>
        <p:spPr>
          <a:xfrm>
            <a:off x="6035040" y="502920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5029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세금계산서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발행 대행</a:t>
            </a:r>
            <a:endParaRPr lang="en-US" sz="1400" dirty="0"/>
          </a:p>
        </p:txBody>
      </p:sp>
      <p:sp>
        <p:nvSpPr>
          <p:cNvPr id="21" name="a1"/>
          <p:cNvSpPr/>
          <p:nvPr/>
        </p:nvSpPr>
        <p:spPr>
          <a:xfrm>
            <a:off x="2743200" y="2286000"/>
            <a:ext cx="548640" cy="91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2" name="a2"/>
          <p:cNvSpPr/>
          <p:nvPr/>
        </p:nvSpPr>
        <p:spPr>
          <a:xfrm>
            <a:off x="5486400" y="2286000"/>
            <a:ext cx="548640" cy="91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3" name="a3"/>
          <p:cNvSpPr/>
          <p:nvPr/>
        </p:nvSpPr>
        <p:spPr>
          <a:xfrm>
            <a:off x="8229600" y="2286000"/>
            <a:ext cx="548640" cy="91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4" name="a4"/>
          <p:cNvSpPr/>
          <p:nvPr/>
        </p:nvSpPr>
        <p:spPr>
          <a:xfrm>
            <a:off x="4389120" y="2743200"/>
            <a:ext cx="914" cy="109728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5" name="a5"/>
          <p:cNvSpPr/>
          <p:nvPr/>
        </p:nvSpPr>
        <p:spPr>
          <a:xfrm>
            <a:off x="9464040" y="2743200"/>
            <a:ext cx="914" cy="109728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6" name="a6"/>
          <p:cNvSpPr/>
          <p:nvPr/>
        </p:nvSpPr>
        <p:spPr>
          <a:xfrm>
            <a:off x="10927080" y="2743200"/>
            <a:ext cx="914" cy="109728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7" name="a7"/>
          <p:cNvSpPr/>
          <p:nvPr/>
        </p:nvSpPr>
        <p:spPr>
          <a:xfrm flipH="1">
            <a:off x="8229600" y="2651760"/>
            <a:ext cx="548640" cy="137160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8" name="a8"/>
          <p:cNvSpPr/>
          <p:nvPr/>
        </p:nvSpPr>
        <p:spPr>
          <a:xfrm flipH="1">
            <a:off x="8229600" y="2697480"/>
            <a:ext cx="548640" cy="260604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기술 스택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5760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구성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선택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웹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ASP.NET Core (.NET 10) + Blazor Server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기존 프로젝트(AlphaNest·MirrorMeal)와 같은 스택이라 재사용 쉬움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DB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 + EF Core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공고 전문 검색(한글 n-gram)과 대량 적재에 유리. MS SQL도 가능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배치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Hangfire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재시도·실패 기록·대시보드 기본 제공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인증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ASP.NET Core Identity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비밀번호 해시, 잠금, 2단계 인증 기본 제공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테스트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xUnit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투찰금액 계산은 돈이 걸린 로직이라 공식별 테스트 필수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국내 클라우드 VM 1대 + 관리형 DB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초기 트래픽이 작고, 개인정보 국내 보관 요건 대응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핵심 데이터 모델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테이블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주요 내용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공고번호+차수, 분류, 공고명, 발주·수요기관, 낙찰하한율, 추정가격, 기초금액, A값, 순공사원가, 일정, 지역 제한, 상태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NoticeLicense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공고별 업종 면허 (공고 하나에 여러 면허)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BidResult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공고번호, 순위, 사업자번호, 업체명, 투찰금액·투찰률·사정률, 낙찰 여부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Company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사업자번호, 업체명, 지역, 보유 면허 (경쟁사 분석용)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Member · SavedSearch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회원, 사업자번호, 구독 등급·만료일, 알림 설정, 저장한 검색 조건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Folder · FolderItem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 폴더, 담은 공고, 메모, 삭제 일시(휴지통)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MyBid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 사정률·투찰금액 → 개찰 후 BidResult와 매칭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Payment · TaxInvoice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결제 내역, 빌링키 참조, 세금계산서 발행 상태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CollectLog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수집 작업별 범위·건수·실패 사유 (누락·중복 추적)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개발 일정 (개발자 1명 기준)</a:t>
            </a:r>
            <a:endParaRPr lang="en-US" sz="3000" dirty="0"/>
          </a:p>
        </p:txBody>
      </p:sp>
      <p:sp>
        <p:nvSpPr>
          <p:cNvPr id="3" name="timeline-axis"/>
          <p:cNvSpPr/>
          <p:nvPr/>
        </p:nvSpPr>
        <p:spPr>
          <a:xfrm>
            <a:off x="822960" y="1965960"/>
            <a:ext cx="10515600" cy="0"/>
          </a:xfrm>
          <a:prstGeom prst="line">
            <a:avLst/>
          </a:prstGeom>
          <a:noFill/>
          <a:ln w="38100">
            <a:solidFill>
              <a:srgbClr val="D6E5E3"/>
            </a:solidFill>
            <a:prstDash val="solid"/>
          </a:ln>
        </p:spPr>
      </p:sp>
      <p:sp>
        <p:nvSpPr>
          <p:cNvPr id="4" name="tl-dot-0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0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1주</a:t>
            </a:r>
            <a:endParaRPr lang="en-US" sz="1400" dirty="0"/>
          </a:p>
        </p:txBody>
      </p:sp>
      <p:sp>
        <p:nvSpPr>
          <p:cNvPr id="7" name="tl-card-0"/>
          <p:cNvSpPr/>
          <p:nvPr/>
        </p:nvSpPr>
        <p:spPr>
          <a:xfrm>
            <a:off x="548640" y="2560320"/>
            <a:ext cx="2103120" cy="35661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0단계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준비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1188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API 활용신청·응답 실측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대상 범위 확정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화면 와이어프레임</a:t>
            </a:r>
            <a:endParaRPr lang="en-US" sz="1300" dirty="0"/>
          </a:p>
        </p:txBody>
      </p:sp>
      <p:sp>
        <p:nvSpPr>
          <p:cNvPr id="11" name="tl-dot-1"/>
          <p:cNvSpPr/>
          <p:nvPr/>
        </p:nvSpPr>
        <p:spPr>
          <a:xfrm>
            <a:off x="2962656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62656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2~4주</a:t>
            </a:r>
            <a:endParaRPr lang="en-US" sz="1400" dirty="0"/>
          </a:p>
        </p:txBody>
      </p:sp>
      <p:sp>
        <p:nvSpPr>
          <p:cNvPr id="14" name="tl-card-1"/>
          <p:cNvSpPr/>
          <p:nvPr/>
        </p:nvSpPr>
        <p:spPr>
          <a:xfrm>
            <a:off x="2779776" y="2560320"/>
            <a:ext cx="2103120" cy="35661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62656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1단계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62656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수집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962656" y="361188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공고·기초금액·개찰 수집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정정 공고 처리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과거 1년치 적재</a:t>
            </a:r>
            <a:endParaRPr lang="en-US" sz="1300" dirty="0"/>
          </a:p>
        </p:txBody>
      </p:sp>
      <p:sp>
        <p:nvSpPr>
          <p:cNvPr id="18" name="tl-dot-2"/>
          <p:cNvSpPr/>
          <p:nvPr/>
        </p:nvSpPr>
        <p:spPr>
          <a:xfrm>
            <a:off x="5193792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9379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925312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5~9주</a:t>
            </a:r>
            <a:endParaRPr lang="en-US" sz="1400" dirty="0"/>
          </a:p>
        </p:txBody>
      </p:sp>
      <p:sp>
        <p:nvSpPr>
          <p:cNvPr id="21" name="tl-card-2"/>
          <p:cNvSpPr/>
          <p:nvPr/>
        </p:nvSpPr>
        <p:spPr>
          <a:xfrm>
            <a:off x="5010912" y="2560320"/>
            <a:ext cx="2103120" cy="35661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93792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2단계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93792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MVP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193792" y="361188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회원·검색·상세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관심 공고·폴더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계산기, 비공개 베타</a:t>
            </a:r>
            <a:endParaRPr lang="en-US" sz="1300" dirty="0"/>
          </a:p>
        </p:txBody>
      </p:sp>
      <p:sp>
        <p:nvSpPr>
          <p:cNvPr id="25" name="tl-dot-3"/>
          <p:cNvSpPr/>
          <p:nvPr/>
        </p:nvSpPr>
        <p:spPr>
          <a:xfrm>
            <a:off x="7424928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2492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8156448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10~13주</a:t>
            </a:r>
            <a:endParaRPr lang="en-US" sz="1400" dirty="0"/>
          </a:p>
        </p:txBody>
      </p:sp>
      <p:sp>
        <p:nvSpPr>
          <p:cNvPr id="28" name="tl-card-3"/>
          <p:cNvSpPr/>
          <p:nvPr/>
        </p:nvSpPr>
        <p:spPr>
          <a:xfrm>
            <a:off x="7242048" y="2560320"/>
            <a:ext cx="2103120" cy="35661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24928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3단계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24928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유료 오픈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424928" y="361188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정기결제·세금계산서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이메일 알림·투찰 기록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약관 법률 검토</a:t>
            </a:r>
            <a:endParaRPr lang="en-US" sz="1300" dirty="0"/>
          </a:p>
        </p:txBody>
      </p:sp>
      <p:sp>
        <p:nvSpPr>
          <p:cNvPr id="32" name="tl-dot-4"/>
          <p:cNvSpPr/>
          <p:nvPr/>
        </p:nvSpPr>
        <p:spPr>
          <a:xfrm>
            <a:off x="9656064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560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4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10387584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14주~</a:t>
            </a:r>
            <a:endParaRPr lang="en-US" sz="1400" dirty="0"/>
          </a:p>
        </p:txBody>
      </p:sp>
      <p:sp>
        <p:nvSpPr>
          <p:cNvPr id="35" name="tl-card-4"/>
          <p:cNvSpPr/>
          <p:nvPr/>
        </p:nvSpPr>
        <p:spPr>
          <a:xfrm>
            <a:off x="9473184" y="2560320"/>
            <a:ext cx="2103120" cy="35661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56064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4단계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56064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분석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656064" y="361188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경쟁사 성향·사정률 분포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한도·심사 점수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모바일 푸시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리스크와 대응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리스크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대응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벤치마크 콘텐츠·디자인 복제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약관상 복제 금지. 표 데이터·문구·디자인은 원출처나 자체 제작으로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 장애·필드 변경으로 공고 누락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수집 건수 이상 감지 알림, 공고번호 기준 중복 없는 저장, 다음 주기 재수집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계산 오류로 회원이 심사 탈락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공식별 단위 테스트, '참고용' 표시, 약관 면책 조항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개인정보 과다 수집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주민등록번호 미수집, 사업자번호·연락처만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투찰가 추천 서비스의 책임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분석서비스는 3차 이후 별도 계약, 낙찰 보장 표현 금지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정기결제·세금계산서 규정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통신판매업 신고, PG 심사, 자동결제 사전 고지·해지 절차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결정이 필요한 사항</a:t>
            </a:r>
            <a:endParaRPr lang="en-US" sz="3000" dirty="0"/>
          </a:p>
        </p:txBody>
      </p:sp>
      <p:sp>
        <p:nvSpPr>
          <p:cNvPr id="3" name="decision-1"/>
          <p:cNvSpPr/>
          <p:nvPr/>
        </p:nvSpPr>
        <p:spPr>
          <a:xfrm>
            <a:off x="548640" y="1371600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decision-badge-1"/>
          <p:cNvSpPr/>
          <p:nvPr/>
        </p:nvSpPr>
        <p:spPr>
          <a:xfrm>
            <a:off x="777240" y="1527048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27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716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대상 분류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37160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공사·용역·물품 전부, 또는 공사만 먼저 (MVP 2~3주 단축)</a:t>
            </a:r>
            <a:endParaRPr lang="en-US" sz="1500" dirty="0"/>
          </a:p>
        </p:txBody>
      </p:sp>
      <p:sp>
        <p:nvSpPr>
          <p:cNvPr id="8" name="decision-2"/>
          <p:cNvSpPr/>
          <p:nvPr/>
        </p:nvSpPr>
        <p:spPr>
          <a:xfrm>
            <a:off x="548640" y="2322576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9" name="decision-badge-2"/>
          <p:cNvSpPr/>
          <p:nvPr/>
        </p:nvSpPr>
        <p:spPr>
          <a:xfrm>
            <a:off x="777240" y="2478024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478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22576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대상 고객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322576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지역 중소 건설사, 또는 전국 단위</a:t>
            </a:r>
            <a:endParaRPr lang="en-US" sz="1500" dirty="0"/>
          </a:p>
        </p:txBody>
      </p:sp>
      <p:sp>
        <p:nvSpPr>
          <p:cNvPr id="13" name="decision-3"/>
          <p:cNvSpPr/>
          <p:nvPr/>
        </p:nvSpPr>
        <p:spPr>
          <a:xfrm>
            <a:off x="548640" y="3273552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decision-badge-3"/>
          <p:cNvSpPr/>
          <p:nvPr/>
        </p:nvSpPr>
        <p:spPr>
          <a:xfrm>
            <a:off x="777240" y="3429000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27355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요금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273552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월 2만 원대 단일 요금, 또는 무료+유료 등급</a:t>
            </a:r>
            <a:endParaRPr lang="en-US" sz="1500" dirty="0"/>
          </a:p>
        </p:txBody>
      </p:sp>
      <p:sp>
        <p:nvSpPr>
          <p:cNvPr id="18" name="decision-4"/>
          <p:cNvSpPr/>
          <p:nvPr/>
        </p:nvSpPr>
        <p:spPr>
          <a:xfrm>
            <a:off x="548640" y="4224528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9" name="decision-badge-4"/>
          <p:cNvSpPr/>
          <p:nvPr/>
        </p:nvSpPr>
        <p:spPr>
          <a:xfrm>
            <a:off x="777240" y="4379976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379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22452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분석서비스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224528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사람이 투찰가를 제시하는 컨설팅 여부 (운영 인력 필요)</a:t>
            </a:r>
            <a:endParaRPr lang="en-US" sz="1500" dirty="0"/>
          </a:p>
        </p:txBody>
      </p:sp>
      <p:sp>
        <p:nvSpPr>
          <p:cNvPr id="23" name="decision-5"/>
          <p:cNvSpPr/>
          <p:nvPr/>
        </p:nvSpPr>
        <p:spPr>
          <a:xfrm>
            <a:off x="548640" y="5175504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4" name="decision-badge-5"/>
          <p:cNvSpPr/>
          <p:nvPr/>
        </p:nvSpPr>
        <p:spPr>
          <a:xfrm>
            <a:off x="777240" y="5330952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330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17550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호스팅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5175504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클라우드 사용 여부와 월 예산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다음 단계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사용자 기능 확인 결과로 메뉴·기능 확정 → 결정 사항 확정 → 1단계 나라장터 수집기 개발 착수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d Service">
  <a:themeElements>
    <a:clrScheme name="Bid Service">
      <a:dk1>
        <a:srgbClr val="1A2230"/>
      </a:dk1>
      <a:lt1>
        <a:srgbClr val="FFFFFF"/>
      </a:lt1>
      <a:dk2>
        <a:srgbClr val="0F3D3E"/>
      </a:dk2>
      <a:lt2>
        <a:srgbClr val="EDF3F2"/>
      </a:lt2>
      <a:accent1>
        <a:srgbClr val="1F6F6B"/>
      </a:accent1>
      <a:accent2>
        <a:srgbClr val="C98A00"/>
      </a:accent2>
      <a:accent3>
        <a:srgbClr val="B4432F"/>
      </a:accent3>
      <a:accent4>
        <a:srgbClr val="2E7D4F"/>
      </a:accent4>
      <a:accent5>
        <a:srgbClr val="6B7785"/>
      </a:accent5>
      <a:accent6>
        <a:srgbClr val="D6E5E3"/>
      </a:accent6>
      <a:hlink>
        <a:srgbClr val="1F6F6B"/>
      </a:hlink>
      <a:folHlink>
        <a:srgbClr val="6B7785"/>
      </a:folHlink>
    </a:clrScheme>
    <a:fontScheme name="Bid Serv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입찰정보 서비스 개발 계획서</dc:title>
  <dc:subject>PptxGenJS Presentation</dc:subject>
  <dc:creator>na-nim</dc:creator>
  <cp:lastModifiedBy>na-nim</cp:lastModifiedBy>
  <cp:revision>1</cp:revision>
  <dcterms:created xsi:type="dcterms:W3CDTF">2026-10-08T14:31:47Z</dcterms:created>
  <dcterms:modified xsi:type="dcterms:W3CDTF">2026-10-08T14:31:47Z</dcterms:modified>
</cp:coreProperties>
</file>