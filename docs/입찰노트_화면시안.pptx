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d6c7899f-a5e7-ce49-25f6-819b245e8c05}">
          <p14:sldIdLst>
            <p14:sldId id="256"/>
            <p14:sldId id="257"/>
          </p14:sldIdLst>
        </p14:section>
        <p14:section name="홈" id="{955fd8ba-f036-cb15-6f9d-ad5b3441959c}">
          <p14:sldIdLst>
            <p14:sldId id="258"/>
          </p14:sldIdLst>
        </p14:section>
        <p14:section name="공고 찾기" id="{8cd2f767-a01b-425a-900a-a172f9542158}">
          <p14:sldIdLst>
            <p14:sldId id="259"/>
            <p14:sldId id="260"/>
            <p14:sldId id="261"/>
            <p14:sldId id="262"/>
          </p14:sldIdLst>
        </p14:section>
        <p14:section name="내 입찰" id="{596b4b7d-4195-bdec-55c5-addd022d5190}">
          <p14:sldIdLst>
            <p14:sldId id="263"/>
            <p14:sldId id="264"/>
            <p14:sldId id="265"/>
            <p14:sldId id="266"/>
            <p14:sldId id="267"/>
          </p14:sldIdLst>
        </p14:section>
        <p14:section name="입찰 도구" id="{28f22bef-fbab-1f6b-889d-e5c6fc153a30}">
          <p14:sldIdLst>
            <p14:sldId id="268"/>
            <p14:sldId id="269"/>
            <p14:sldId id="270"/>
            <p14:sldId id="271"/>
          </p14:sldIdLst>
        </p14:section>
        <p14:section name="알림" id="{e1ca0fc4-2ee9-abf1-bd80-dd87f6407553}">
          <p14:sldIdLst>
            <p14:sldId id="272"/>
            <p14:sldId id="273"/>
          </p14:sldIdLst>
        </p14:section>
        <p14:section name="자료실" id="{4f935039-6b46-2187-eb81-7cf17c4bcbda}">
          <p14:sldIdLst>
            <p14:sldId id="274"/>
            <p14:sldId id="275"/>
            <p14:sldId id="276"/>
          </p14:sldIdLst>
        </p14:section>
        <p14:section name="고객센터" id="{15109281-3f69-be20-ec1e-a777c82cfe96}">
          <p14:sldIdLst>
            <p14:sldId id="277"/>
            <p14:sldId id="278"/>
            <p14:sldId id="279"/>
          </p14:sldIdLst>
        </p14:section>
        <p14:section name="내 정보" id="{b5bb6ed9-d982-12f7-c3c5-cfc613c43365}">
          <p14:sldIdLst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입찰노트 화면 시안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/>
        </p:nvSpPr>
        <p:spPr>
          <a:xfrm>
            <a:off x="411480" y="65836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입찰노트 화면 시안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입찰노트 화면 시안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화면 25개 · 서비스 이름은 가칭, 데이터는 모두 예시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메뉴와 화면 구성</a:t>
            </a:r>
            <a:endParaRPr lang="en-US" sz="3000" dirty="0"/>
          </a:p>
        </p:txBody>
      </p:sp>
      <p:sp>
        <p:nvSpPr>
          <p:cNvPr id="3" name="map-head-0"/>
          <p:cNvSpPr/>
          <p:nvPr/>
        </p:nvSpPr>
        <p:spPr>
          <a:xfrm>
            <a:off x="548640" y="1325880"/>
            <a:ext cx="1481328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공고 찾기</a:t>
            </a:r>
            <a:endParaRPr lang="en-US" sz="1500" dirty="0"/>
          </a:p>
        </p:txBody>
      </p:sp>
      <p:sp>
        <p:nvSpPr>
          <p:cNvPr id="5" name="map-item-0-0"/>
          <p:cNvSpPr/>
          <p:nvPr/>
        </p:nvSpPr>
        <p:spPr>
          <a:xfrm>
            <a:off x="548640" y="2103120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210312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진행 공고</a:t>
            </a:r>
            <a:endParaRPr lang="en-US" sz="1100" dirty="0"/>
          </a:p>
        </p:txBody>
      </p:sp>
      <p:sp>
        <p:nvSpPr>
          <p:cNvPr id="7" name="map-item-0-1"/>
          <p:cNvSpPr/>
          <p:nvPr/>
        </p:nvSpPr>
        <p:spPr>
          <a:xfrm>
            <a:off x="548640" y="2761488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276148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공고 상세</a:t>
            </a:r>
            <a:endParaRPr lang="en-US" sz="1100" dirty="0"/>
          </a:p>
        </p:txBody>
      </p:sp>
      <p:sp>
        <p:nvSpPr>
          <p:cNvPr id="9" name="map-item-0-2"/>
          <p:cNvSpPr/>
          <p:nvPr/>
        </p:nvSpPr>
        <p:spPr>
          <a:xfrm>
            <a:off x="548640" y="3419856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3419856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개찰 결과</a:t>
            </a:r>
            <a:endParaRPr lang="en-US" sz="1100" dirty="0"/>
          </a:p>
        </p:txBody>
      </p:sp>
      <p:sp>
        <p:nvSpPr>
          <p:cNvPr id="11" name="map-item-0-3"/>
          <p:cNvSpPr/>
          <p:nvPr/>
        </p:nvSpPr>
        <p:spPr>
          <a:xfrm>
            <a:off x="548640" y="4078224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" y="4078224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검색 조건 저장</a:t>
            </a:r>
            <a:endParaRPr lang="en-US" sz="1100" dirty="0"/>
          </a:p>
        </p:txBody>
      </p:sp>
      <p:sp>
        <p:nvSpPr>
          <p:cNvPr id="13" name="map-head-1"/>
          <p:cNvSpPr/>
          <p:nvPr/>
        </p:nvSpPr>
        <p:spPr>
          <a:xfrm>
            <a:off x="2130552" y="1325880"/>
            <a:ext cx="1481328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30552" y="13258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내 입찰</a:t>
            </a:r>
            <a:endParaRPr lang="en-US" sz="1500" dirty="0"/>
          </a:p>
        </p:txBody>
      </p:sp>
      <p:sp>
        <p:nvSpPr>
          <p:cNvPr id="15" name="map-item-1-0"/>
          <p:cNvSpPr/>
          <p:nvPr/>
        </p:nvSpPr>
        <p:spPr>
          <a:xfrm>
            <a:off x="2130552" y="2103120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203704" y="210312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관심 공고</a:t>
            </a:r>
            <a:endParaRPr lang="en-US" sz="1100" dirty="0"/>
          </a:p>
        </p:txBody>
      </p:sp>
      <p:sp>
        <p:nvSpPr>
          <p:cNvPr id="17" name="map-item-1-1"/>
          <p:cNvSpPr/>
          <p:nvPr/>
        </p:nvSpPr>
        <p:spPr>
          <a:xfrm>
            <a:off x="2130552" y="2761488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203704" y="276148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폴더·휴지통</a:t>
            </a:r>
            <a:endParaRPr lang="en-US" sz="1100" dirty="0"/>
          </a:p>
        </p:txBody>
      </p:sp>
      <p:sp>
        <p:nvSpPr>
          <p:cNvPr id="19" name="map-item-1-2"/>
          <p:cNvSpPr/>
          <p:nvPr/>
        </p:nvSpPr>
        <p:spPr>
          <a:xfrm>
            <a:off x="2130552" y="3419856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203704" y="3419856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내 투찰 기록</a:t>
            </a:r>
            <a:endParaRPr lang="en-US" sz="1100" dirty="0"/>
          </a:p>
        </p:txBody>
      </p:sp>
      <p:sp>
        <p:nvSpPr>
          <p:cNvPr id="21" name="map-item-1-3"/>
          <p:cNvSpPr/>
          <p:nvPr/>
        </p:nvSpPr>
        <p:spPr>
          <a:xfrm>
            <a:off x="2130552" y="4078224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203704" y="4078224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경쟁사 투찰 성향</a:t>
            </a:r>
            <a:endParaRPr lang="en-US" sz="1100" dirty="0"/>
          </a:p>
        </p:txBody>
      </p:sp>
      <p:sp>
        <p:nvSpPr>
          <p:cNvPr id="23" name="map-item-1-4"/>
          <p:cNvSpPr/>
          <p:nvPr/>
        </p:nvSpPr>
        <p:spPr>
          <a:xfrm>
            <a:off x="2130552" y="4736592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203704" y="47365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입찰 가능 금액</a:t>
            </a:r>
            <a:endParaRPr lang="en-US" sz="1100" dirty="0"/>
          </a:p>
        </p:txBody>
      </p:sp>
      <p:sp>
        <p:nvSpPr>
          <p:cNvPr id="25" name="map-head-2"/>
          <p:cNvSpPr/>
          <p:nvPr/>
        </p:nvSpPr>
        <p:spPr>
          <a:xfrm>
            <a:off x="3712464" y="1325880"/>
            <a:ext cx="1481328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712464" y="13258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입찰 도구</a:t>
            </a:r>
            <a:endParaRPr lang="en-US" sz="1500" dirty="0"/>
          </a:p>
        </p:txBody>
      </p:sp>
      <p:sp>
        <p:nvSpPr>
          <p:cNvPr id="27" name="map-item-2-0"/>
          <p:cNvSpPr/>
          <p:nvPr/>
        </p:nvSpPr>
        <p:spPr>
          <a:xfrm>
            <a:off x="3712464" y="2103120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785616" y="210312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투찰금액 계산기</a:t>
            </a:r>
            <a:endParaRPr lang="en-US" sz="1100" dirty="0"/>
          </a:p>
        </p:txBody>
      </p:sp>
      <p:sp>
        <p:nvSpPr>
          <p:cNvPr id="29" name="map-item-2-1"/>
          <p:cNvSpPr/>
          <p:nvPr/>
        </p:nvSpPr>
        <p:spPr>
          <a:xfrm>
            <a:off x="3712464" y="2761488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785616" y="276148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투찰률·실적배수 표</a:t>
            </a:r>
            <a:endParaRPr lang="en-US" sz="1100" dirty="0"/>
          </a:p>
        </p:txBody>
      </p:sp>
      <p:sp>
        <p:nvSpPr>
          <p:cNvPr id="31" name="map-item-2-2"/>
          <p:cNvSpPr/>
          <p:nvPr/>
        </p:nvSpPr>
        <p:spPr>
          <a:xfrm>
            <a:off x="3712464" y="3419856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785616" y="3419856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업종별 평균비율</a:t>
            </a:r>
            <a:endParaRPr lang="en-US" sz="1100" dirty="0"/>
          </a:p>
        </p:txBody>
      </p:sp>
      <p:sp>
        <p:nvSpPr>
          <p:cNvPr id="33" name="map-item-2-3"/>
          <p:cNvSpPr/>
          <p:nvPr/>
        </p:nvSpPr>
        <p:spPr>
          <a:xfrm>
            <a:off x="3712464" y="4078224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785616" y="4078224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적격심사 예상 점수</a:t>
            </a:r>
            <a:endParaRPr lang="en-US" sz="1100" dirty="0"/>
          </a:p>
        </p:txBody>
      </p:sp>
      <p:sp>
        <p:nvSpPr>
          <p:cNvPr id="35" name="map-head-3"/>
          <p:cNvSpPr/>
          <p:nvPr/>
        </p:nvSpPr>
        <p:spPr>
          <a:xfrm>
            <a:off x="5294376" y="1325880"/>
            <a:ext cx="1481328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294376" y="13258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알림</a:t>
            </a:r>
            <a:endParaRPr lang="en-US" sz="1500" dirty="0"/>
          </a:p>
        </p:txBody>
      </p:sp>
      <p:sp>
        <p:nvSpPr>
          <p:cNvPr id="37" name="map-item-3-0"/>
          <p:cNvSpPr/>
          <p:nvPr/>
        </p:nvSpPr>
        <p:spPr>
          <a:xfrm>
            <a:off x="5294376" y="2103120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367528" y="210312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새 공고 알림</a:t>
            </a:r>
            <a:endParaRPr lang="en-US" sz="1100" dirty="0"/>
          </a:p>
        </p:txBody>
      </p:sp>
      <p:sp>
        <p:nvSpPr>
          <p:cNvPr id="39" name="map-item-3-1"/>
          <p:cNvSpPr/>
          <p:nvPr/>
        </p:nvSpPr>
        <p:spPr>
          <a:xfrm>
            <a:off x="5294376" y="2761488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367528" y="276148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마감·개찰 알림</a:t>
            </a:r>
            <a:endParaRPr lang="en-US" sz="1100" dirty="0"/>
          </a:p>
        </p:txBody>
      </p:sp>
      <p:sp>
        <p:nvSpPr>
          <p:cNvPr id="41" name="map-head-4"/>
          <p:cNvSpPr/>
          <p:nvPr/>
        </p:nvSpPr>
        <p:spPr>
          <a:xfrm>
            <a:off x="6876288" y="1325880"/>
            <a:ext cx="1481328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876288" y="13258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자료실</a:t>
            </a:r>
            <a:endParaRPr lang="en-US" sz="1500" dirty="0"/>
          </a:p>
        </p:txBody>
      </p:sp>
      <p:sp>
        <p:nvSpPr>
          <p:cNvPr id="43" name="map-item-4-0"/>
          <p:cNvSpPr/>
          <p:nvPr/>
        </p:nvSpPr>
        <p:spPr>
          <a:xfrm>
            <a:off x="6876288" y="2103120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949440" y="210312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공지·발주처 소식</a:t>
            </a:r>
            <a:endParaRPr lang="en-US" sz="1100" dirty="0"/>
          </a:p>
        </p:txBody>
      </p:sp>
      <p:sp>
        <p:nvSpPr>
          <p:cNvPr id="45" name="map-item-4-1"/>
          <p:cNvSpPr/>
          <p:nvPr/>
        </p:nvSpPr>
        <p:spPr>
          <a:xfrm>
            <a:off x="6876288" y="2761488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949440" y="276148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발주처별 적격심사 기준</a:t>
            </a:r>
            <a:endParaRPr lang="en-US" sz="1100" dirty="0"/>
          </a:p>
        </p:txBody>
      </p:sp>
      <p:sp>
        <p:nvSpPr>
          <p:cNvPr id="47" name="map-item-4-2"/>
          <p:cNvSpPr/>
          <p:nvPr/>
        </p:nvSpPr>
        <p:spPr>
          <a:xfrm>
            <a:off x="6876288" y="3419856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949440" y="3419856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출력·엑셀 저장</a:t>
            </a:r>
            <a:endParaRPr lang="en-US" sz="1100" dirty="0"/>
          </a:p>
        </p:txBody>
      </p:sp>
      <p:sp>
        <p:nvSpPr>
          <p:cNvPr id="49" name="map-head-5"/>
          <p:cNvSpPr/>
          <p:nvPr/>
        </p:nvSpPr>
        <p:spPr>
          <a:xfrm>
            <a:off x="8458200" y="1325880"/>
            <a:ext cx="1481328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458200" y="13258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고객센터</a:t>
            </a:r>
            <a:endParaRPr lang="en-US" sz="1500" dirty="0"/>
          </a:p>
        </p:txBody>
      </p:sp>
      <p:sp>
        <p:nvSpPr>
          <p:cNvPr id="51" name="map-item-5-0"/>
          <p:cNvSpPr/>
          <p:nvPr/>
        </p:nvSpPr>
        <p:spPr>
          <a:xfrm>
            <a:off x="8458200" y="2103120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8531352" y="210312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1:1 문의</a:t>
            </a:r>
            <a:endParaRPr lang="en-US" sz="1100" dirty="0"/>
          </a:p>
        </p:txBody>
      </p:sp>
      <p:sp>
        <p:nvSpPr>
          <p:cNvPr id="53" name="map-item-5-1"/>
          <p:cNvSpPr/>
          <p:nvPr/>
        </p:nvSpPr>
        <p:spPr>
          <a:xfrm>
            <a:off x="8458200" y="2761488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531352" y="276148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요금 안내·결제</a:t>
            </a:r>
            <a:endParaRPr lang="en-US" sz="1100" dirty="0"/>
          </a:p>
        </p:txBody>
      </p:sp>
      <p:sp>
        <p:nvSpPr>
          <p:cNvPr id="55" name="map-item-5-2"/>
          <p:cNvSpPr/>
          <p:nvPr/>
        </p:nvSpPr>
        <p:spPr>
          <a:xfrm>
            <a:off x="8458200" y="3419856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8531352" y="3419856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원격지원</a:t>
            </a:r>
            <a:endParaRPr lang="en-US" sz="1100" dirty="0"/>
          </a:p>
        </p:txBody>
      </p:sp>
      <p:sp>
        <p:nvSpPr>
          <p:cNvPr id="57" name="map-head-6"/>
          <p:cNvSpPr/>
          <p:nvPr/>
        </p:nvSpPr>
        <p:spPr>
          <a:xfrm>
            <a:off x="10040112" y="1325880"/>
            <a:ext cx="1481328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10040112" y="13258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내 정보</a:t>
            </a:r>
            <a:endParaRPr lang="en-US" sz="1500" dirty="0"/>
          </a:p>
        </p:txBody>
      </p:sp>
      <p:sp>
        <p:nvSpPr>
          <p:cNvPr id="59" name="map-item-6-0"/>
          <p:cNvSpPr/>
          <p:nvPr/>
        </p:nvSpPr>
        <p:spPr>
          <a:xfrm>
            <a:off x="10040112" y="2103120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10113264" y="210312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회사·면허 정보</a:t>
            </a:r>
            <a:endParaRPr lang="en-US" sz="1100" dirty="0"/>
          </a:p>
        </p:txBody>
      </p:sp>
      <p:sp>
        <p:nvSpPr>
          <p:cNvPr id="61" name="map-item-6-1"/>
          <p:cNvSpPr/>
          <p:nvPr/>
        </p:nvSpPr>
        <p:spPr>
          <a:xfrm>
            <a:off x="10040112" y="2761488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10113264" y="276148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휴대폰 등록</a:t>
            </a:r>
            <a:endParaRPr lang="en-US" sz="1100" dirty="0"/>
          </a:p>
        </p:txBody>
      </p:sp>
      <p:sp>
        <p:nvSpPr>
          <p:cNvPr id="63" name="map-item-6-2"/>
          <p:cNvSpPr/>
          <p:nvPr/>
        </p:nvSpPr>
        <p:spPr>
          <a:xfrm>
            <a:off x="10040112" y="3419856"/>
            <a:ext cx="1481328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10113264" y="3419856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문자 알림 설정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홈</a:t>
            </a:r>
            <a:endParaRPr lang="en-US" sz="2200" dirty="0"/>
          </a:p>
        </p:txBody>
      </p:sp>
      <p:pic>
        <p:nvPicPr>
          <p:cNvPr id="3" name="shot" descr="홈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1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처음 들어왔을 때 보는 화면입니다.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공고 검색창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48시간 안에 마감되는 공고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최근 정정 공고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전체 메뉴 바로가기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공고 찾기 › 진행 공고</a:t>
            </a:r>
            <a:endParaRPr lang="en-US" sz="2200" dirty="0"/>
          </a:p>
        </p:txBody>
      </p:sp>
      <p:pic>
        <p:nvPicPr>
          <p:cNvPr id="3" name="shot" descr="진행 공고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2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참여할 수 있는 공고를 조건으로 골라 봅니다.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지역·업종·금액·마감일 필터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마감 임박·금액·최신 정렬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여러 건 골라 관심 공고에 담기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공사·용역·물품 탭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공고 찾기 › 공고 상세</a:t>
            </a:r>
            <a:endParaRPr lang="en-US" sz="2200" dirty="0"/>
          </a:p>
        </p:txBody>
      </p:sp>
      <p:pic>
        <p:nvPicPr>
          <p:cNvPr id="3" name="shot" descr="공고 상세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3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공고 하나의 정보를 한 화면에 모았습니다.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기초금액·A값·순공사원가 등 공고 정보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정정 이력 (이전 내용 보관)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사정률 100% 기준 투찰금액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계산기로 보내기, 메모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공고 찾기 › 개찰 결과</a:t>
            </a:r>
            <a:endParaRPr lang="en-US" sz="2200" dirty="0"/>
          </a:p>
        </p:txBody>
      </p:sp>
      <p:pic>
        <p:nvPicPr>
          <p:cNvPr id="3" name="shot" descr="개찰 결과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4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입찰이 끝난 공고의 결과를 봅니다.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순위·업체·투찰금액·사정률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오른쪽에서 개찰한 공고 선택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공고 찾기 › 검색 조건 저장</a:t>
            </a:r>
            <a:endParaRPr lang="en-US" sz="2200" dirty="0"/>
          </a:p>
        </p:txBody>
      </p:sp>
      <p:pic>
        <p:nvPicPr>
          <p:cNvPr id="3" name="shot" descr="검색 조건 저장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5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자주 쓰는 검색 조건을 저장합니다.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조건 이름과 조건 표시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버튼 하나로 다시 검색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문자 알림 설정으로 연결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내 입찰 › 관심 공고</a:t>
            </a:r>
            <a:endParaRPr lang="en-US" sz="2200" dirty="0"/>
          </a:p>
        </p:txBody>
      </p:sp>
      <p:pic>
        <p:nvPicPr>
          <p:cNvPr id="3" name="shot" descr="관심 공고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6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담아 둔 공고를 마감 순서로 봅니다.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D-day와 기초금액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공고별 메모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투찰금액 계산 바로가기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내 입찰 › 폴더·휴지통</a:t>
            </a:r>
            <a:endParaRPr lang="en-US" sz="2200" dirty="0"/>
          </a:p>
        </p:txBody>
      </p:sp>
      <p:pic>
        <p:nvPicPr>
          <p:cNvPr id="3" name="shot" descr="폴더·휴지통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7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관심 공고를 폴더로 정리합니다.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검토 중·투찰 예정·투찰 완료 폴더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휴지통에서 되살리기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내 입찰 › 내 투찰 기록</a:t>
            </a:r>
            <a:endParaRPr lang="en-US" sz="2200" dirty="0"/>
          </a:p>
        </p:txBody>
      </p:sp>
      <p:pic>
        <p:nvPicPr>
          <p:cNvPr id="3" name="shot" descr="내 투찰 기록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8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내가 써낸 사정률과 결과를 비교합니다.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내 사정률과 1순위 사정률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차이와 내 순위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이번 달 참여·낙찰 요약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내 입찰 › 경쟁사 투찰 성향</a:t>
            </a:r>
            <a:endParaRPr lang="en-US" sz="2200" dirty="0"/>
          </a:p>
        </p:txBody>
      </p:sp>
      <p:pic>
        <p:nvPicPr>
          <p:cNvPr id="3" name="shot" descr="경쟁사 투찰 성향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9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업체별 투찰 습관을 그래프로 봅니다.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사정률 구간별 투찰 건수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가장 많이 투찰한 구간 강조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내 입찰 › 입찰 가능 금액</a:t>
            </a:r>
            <a:endParaRPr lang="en-US" sz="2200" dirty="0"/>
          </a:p>
        </p:txBody>
      </p:sp>
      <p:pic>
        <p:nvPicPr>
          <p:cNvPr id="3" name="shot" descr="입찰 가능 금액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10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우리 회사가 참여할 수 있는 금액대를 계산합니다.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면허·실적·시공능력평가액 입력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참여 가능 추정 금액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입찰 도구 › 투찰금액 계산기</a:t>
            </a:r>
            <a:endParaRPr lang="en-US" sz="2200" dirty="0"/>
          </a:p>
        </p:txBody>
      </p:sp>
      <p:pic>
        <p:nvPicPr>
          <p:cNvPr id="3" name="shot" descr="투찰금액 계산기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11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회원이 아니어도 쓸 수 있는 계산기입니다.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기본·A값·순공사원가 하한 비교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높은 금액을 자동으로 선택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투찰금액으로 사정률 역계산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공고 상세에서 값 불러오기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입찰 도구 › 투찰률·실적배수 표</a:t>
            </a:r>
            <a:endParaRPr lang="en-US" sz="2200" dirty="0"/>
          </a:p>
        </p:txBody>
      </p:sp>
      <p:pic>
        <p:nvPicPr>
          <p:cNvPr id="3" name="shot" descr="투찰률·실적배수 표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12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발주처·금액대별 기준표입니다.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낙찰하한율, 실적 기간, 실적 배수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값은 예시 (원출처에서 정리 예정)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입찰 도구 › 업종별 평균비율</a:t>
            </a:r>
            <a:endParaRPr lang="en-US" sz="2200" dirty="0"/>
          </a:p>
        </p:txBody>
      </p:sp>
      <p:pic>
        <p:nvPicPr>
          <p:cNvPr id="3" name="shot" descr="업종별 평균비율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13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적격심사 경영상태 평가용 평균값입니다.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부채비율·유동비율 등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값은 예시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입찰 도구 › 적격심사 예상 점수</a:t>
            </a:r>
            <a:endParaRPr lang="en-US" sz="2200" dirty="0"/>
          </a:p>
        </p:txBody>
      </p:sp>
      <p:pic>
        <p:nvPicPr>
          <p:cNvPr id="3" name="shot" descr="적격심사 예상 점수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14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항목별 점수로 통과 여부를 미리 봅니다.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시공경험·경영상태·입찰가격·신인도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통과 기준과 비교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알림 › 새 공고 알림</a:t>
            </a:r>
            <a:endParaRPr lang="en-US" sz="2200" dirty="0"/>
          </a:p>
        </p:txBody>
      </p:sp>
      <p:pic>
        <p:nvPicPr>
          <p:cNvPr id="3" name="shot" descr="새 공고 알림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15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조건에 맞는 새 공고를 모아서 알려 줍니다.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알림 받을 조건 켜고 끄기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보내는 시간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이메일·문자·알림톡 선택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알림 › 마감·개찰 알림</a:t>
            </a:r>
            <a:endParaRPr lang="en-US" sz="2200" dirty="0"/>
          </a:p>
        </p:txBody>
      </p:sp>
      <p:pic>
        <p:nvPicPr>
          <p:cNvPr id="3" name="shot" descr="마감·개찰 알림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16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관심 공고의 일정을 알려 줍니다.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마감 하루 전, 마감 당일 아침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정정 공고, 개찰 결과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자료실 › 공지·발주처 소식</a:t>
            </a:r>
            <a:endParaRPr lang="en-US" sz="2200" dirty="0"/>
          </a:p>
        </p:txBody>
      </p:sp>
      <p:pic>
        <p:nvPicPr>
          <p:cNvPr id="3" name="shot" descr="공지·발주처 소식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17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서비스 공지와 제도 변경 소식입니다.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공지·발주처 구분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날짜순 목록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자료실 › 발주처별 적격심사 기준</a:t>
            </a:r>
            <a:endParaRPr lang="en-US" sz="2200" dirty="0"/>
          </a:p>
        </p:txBody>
      </p:sp>
      <p:pic>
        <p:nvPicPr>
          <p:cNvPr id="3" name="shot" descr="발주처별 적격심사 기준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18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기관별 심사 기준표를 모았습니다.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기관·기준명·개정 시기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기준표 보기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자료실 › 출력·엑셀 저장</a:t>
            </a:r>
            <a:endParaRPr lang="en-US" sz="2200" dirty="0"/>
          </a:p>
        </p:txBody>
      </p:sp>
      <p:pic>
        <p:nvPicPr>
          <p:cNvPr id="3" name="shot" descr="출력·엑셀 저장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19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관심 공고로 투찰 일정표를 만듭니다.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마감·개찰 일시와 메모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인쇄, 엑셀 저장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고객센터 › 1:1 문의</a:t>
            </a:r>
            <a:endParaRPr lang="en-US" sz="2200" dirty="0"/>
          </a:p>
        </p:txBody>
      </p:sp>
      <p:pic>
        <p:nvPicPr>
          <p:cNvPr id="3" name="shot" descr="1:1 문의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20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궁금한 점을 남기고 답변을 받습니다.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문의 유형·제목·내용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내 문의 답변 상태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고객센터 › 요금 안내·결제</a:t>
            </a:r>
            <a:endParaRPr lang="en-US" sz="2200" dirty="0"/>
          </a:p>
        </p:txBody>
      </p:sp>
      <p:pic>
        <p:nvPicPr>
          <p:cNvPr id="3" name="shot" descr="요금 안내·결제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21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요금제와 결제 방법입니다.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무료·기본·분석 요금제 (예시 금액)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카드 정기결제, 세금계산서 자동 발행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고객센터 › 원격지원</a:t>
            </a:r>
            <a:endParaRPr lang="en-US" sz="2200" dirty="0"/>
          </a:p>
        </p:txBody>
      </p:sp>
      <p:pic>
        <p:nvPicPr>
          <p:cNvPr id="3" name="shot" descr="원격지원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22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상담원이 화면을 보며 안내합니다.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접속 번호로 연결하는 4단계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상담 시간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내 정보 › 회사·면허 정보</a:t>
            </a:r>
            <a:endParaRPr lang="en-US" sz="2200" dirty="0"/>
          </a:p>
        </p:txBody>
      </p:sp>
      <p:pic>
        <p:nvPicPr>
          <p:cNvPr id="3" name="shot" descr="회사·면허 정보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23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회사 정보와 보유 면허를 등록합니다.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회사명·사업자번호·소재지·이메일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보유 면허 선택, 실적·시공능력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내 면허로 참여할 수 있는 공고 수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주민등록번호는 받지 않음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내 정보 › 휴대폰 등록</a:t>
            </a:r>
            <a:endParaRPr lang="en-US" sz="2200" dirty="0"/>
          </a:p>
        </p:txBody>
      </p:sp>
      <p:pic>
        <p:nvPicPr>
          <p:cNvPr id="3" name="shot" descr="휴대폰 등록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24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알림 문자를 받을 번호를 등록합니다.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번호 최대 5개, 이름표 붙이기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인증번호 6자리로 본인 확인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번호 삭제 시 해당 문자 알림 해제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01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내 정보 › 문자 알림 설정</a:t>
            </a:r>
            <a:endParaRPr lang="en-US" sz="2200" dirty="0"/>
          </a:p>
        </p:txBody>
      </p:sp>
      <p:pic>
        <p:nvPicPr>
          <p:cNvPr id="3" name="shot" descr="문자 알림 설정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7559040" cy="5669280"/>
          </a:xfrm>
          <a:prstGeom prst="rect">
            <a:avLst/>
          </a:prstGeom>
        </p:spPr>
      </p:pic>
      <p:sp>
        <p:nvSpPr>
          <p:cNvPr id="4" name="shot-frame"/>
          <p:cNvSpPr/>
          <p:nvPr/>
        </p:nvSpPr>
        <p:spPr>
          <a:xfrm>
            <a:off x="411480" y="841248"/>
            <a:ext cx="7559040" cy="5669280"/>
          </a:xfrm>
          <a:prstGeom prst="rect">
            <a:avLst/>
          </a:prstGeom>
          <a:ln w="12700">
            <a:solidFill>
              <a:srgbClr val="D6E5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44840" y="841248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25 / 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44840" y="1161288"/>
            <a:ext cx="355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조건에 맞는 새 공고가 올라오면 문자를 보냅니다.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44840" y="1938528"/>
            <a:ext cx="3550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조건(필터)마다 문자 켜기, 받을 번호 선택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올라오면 바로 / 하루 두 번 모아서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수신 동의, 밤 시간 제외, 하루 최대 건수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문자 미리 보기와 바이트 수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836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확인 부탁드립니다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화면 구성과 메뉴 이름, 문자 알림 방식에 대한 의견을 주시면 시안에 반영합니다.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d Service">
  <a:themeElements>
    <a:clrScheme name="Bid Service">
      <a:dk1>
        <a:srgbClr val="1A2230"/>
      </a:dk1>
      <a:lt1>
        <a:srgbClr val="FFFFFF"/>
      </a:lt1>
      <a:dk2>
        <a:srgbClr val="0F3D3E"/>
      </a:dk2>
      <a:lt2>
        <a:srgbClr val="EDF3F2"/>
      </a:lt2>
      <a:accent1>
        <a:srgbClr val="1F6F6B"/>
      </a:accent1>
      <a:accent2>
        <a:srgbClr val="C98A00"/>
      </a:accent2>
      <a:accent3>
        <a:srgbClr val="B4432F"/>
      </a:accent3>
      <a:accent4>
        <a:srgbClr val="2E7D4F"/>
      </a:accent4>
      <a:accent5>
        <a:srgbClr val="6B7785"/>
      </a:accent5>
      <a:accent6>
        <a:srgbClr val="D6E5E3"/>
      </a:accent6>
      <a:hlink>
        <a:srgbClr val="1F6F6B"/>
      </a:hlink>
      <a:folHlink>
        <a:srgbClr val="6B7785"/>
      </a:folHlink>
    </a:clrScheme>
    <a:fontScheme name="Bid Serv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입찰노트 화면 시안</dc:title>
  <dc:subject>PptxGenJS Presentation</dc:subject>
  <dc:creator>na-nim</dc:creator>
  <cp:lastModifiedBy>na-nim</cp:lastModifiedBy>
  <cp:revision>1</cp:revision>
  <dcterms:created xsi:type="dcterms:W3CDTF">2026-10-16T02:28:23Z</dcterms:created>
  <dcterms:modified xsi:type="dcterms:W3CDTF">2026-10-16T02:28:23Z</dcterms:modified>
</cp:coreProperties>
</file>